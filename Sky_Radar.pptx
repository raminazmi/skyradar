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906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19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مجموعة 17">
            <a:extLst>
              <a:ext uri="{FF2B5EF4-FFF2-40B4-BE49-F238E27FC236}">
                <a16:creationId xmlns:a16="http://schemas.microsoft.com/office/drawing/2014/main" id="{6D5BC12F-836E-2DBB-5FDA-7EF14AB27892}"/>
              </a:ext>
            </a:extLst>
          </p:cNvPr>
          <p:cNvGrpSpPr>
            <a:grpSpLocks/>
          </p:cNvGrpSpPr>
          <p:nvPr/>
        </p:nvGrpSpPr>
        <p:grpSpPr>
          <a:xfrm>
            <a:off x="36729" y="-1061805"/>
            <a:ext cx="12197942" cy="7919805"/>
            <a:chOff x="36729" y="-1061805"/>
            <a:chExt cx="12197942" cy="7919805"/>
          </a:xfrm>
        </p:grpSpPr>
        <p:sp>
          <p:nvSpPr>
            <p:cNvPr id="2" name="Shape 0"/>
            <p:cNvSpPr>
              <a:spLocks noChangeAspect="1"/>
            </p:cNvSpPr>
            <p:nvPr/>
          </p:nvSpPr>
          <p:spPr>
            <a:xfrm>
              <a:off x="2695650" y="228600"/>
              <a:ext cx="6400800" cy="6400800"/>
            </a:xfrm>
            <a:prstGeom prst="ellipse">
              <a:avLst/>
            </a:prstGeom>
            <a:solidFill>
              <a:srgbClr val="0D76B3">
                <a:alpha val="22000"/>
              </a:srgbClr>
            </a:solidFill>
            <a:ln/>
          </p:spPr>
          <p:txBody>
            <a:bodyPr>
              <a:noAutofit/>
            </a:bodyPr>
            <a:lstStyle/>
            <a:p>
              <a:endParaRPr lang="ar-SA" dirty="0"/>
            </a:p>
          </p:txBody>
        </p:sp>
        <p:sp>
          <p:nvSpPr>
            <p:cNvPr id="3" name="Shape 1"/>
            <p:cNvSpPr>
              <a:spLocks/>
            </p:cNvSpPr>
            <p:nvPr/>
          </p:nvSpPr>
          <p:spPr>
            <a:xfrm>
              <a:off x="7205471" y="1722120"/>
              <a:ext cx="5029200" cy="5029200"/>
            </a:xfrm>
            <a:prstGeom prst="ellipse">
              <a:avLst/>
            </a:prstGeom>
            <a:solidFill>
              <a:srgbClr val="1CA9DF">
                <a:alpha val="18000"/>
              </a:srgbClr>
            </a:solidFill>
            <a:ln/>
          </p:spPr>
        </p:sp>
        <p:sp>
          <p:nvSpPr>
            <p:cNvPr id="4" name="Shape 2"/>
            <p:cNvSpPr>
              <a:spLocks/>
            </p:cNvSpPr>
            <p:nvPr/>
          </p:nvSpPr>
          <p:spPr>
            <a:xfrm>
              <a:off x="36729" y="2286000"/>
              <a:ext cx="4572000" cy="4572000"/>
            </a:xfrm>
            <a:prstGeom prst="ellipse">
              <a:avLst/>
            </a:prstGeom>
            <a:solidFill>
              <a:srgbClr val="2B3A8C">
                <a:alpha val="30000"/>
              </a:srgbClr>
            </a:solidFill>
            <a:ln/>
          </p:spPr>
        </p:sp>
        <p:pic>
          <p:nvPicPr>
            <p:cNvPr id="5" name="Image 0" descr="assets/logo-04.png"/>
            <p:cNvPicPr>
              <a:picLocks noChangeAspect="1"/>
            </p:cNvPicPr>
            <p:nvPr/>
          </p:nvPicPr>
          <p:blipFill>
            <a:blip r:embed="rId3"/>
            <a:srcRect l="-40000" r="-40000"/>
            <a:stretch/>
          </p:blipFill>
          <p:spPr>
            <a:xfrm>
              <a:off x="1767382" y="-1061805"/>
              <a:ext cx="8101889" cy="4501049"/>
            </a:xfrm>
            <a:prstGeom prst="rect">
              <a:avLst/>
            </a:prstGeom>
          </p:spPr>
        </p:pic>
        <p:sp>
          <p:nvSpPr>
            <p:cNvPr id="7" name="Text 4"/>
            <p:cNvSpPr>
              <a:spLocks/>
            </p:cNvSpPr>
            <p:nvPr/>
          </p:nvSpPr>
          <p:spPr>
            <a:xfrm>
              <a:off x="4730191" y="2227538"/>
              <a:ext cx="69291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rtl="1"/>
              <a:r>
                <a:rPr lang="en-US" sz="4600" b="1" dirty="0">
                  <a:solidFill>
                    <a:srgbClr val="E8EEF6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خرائط جوية حيّة بتقنية WebGL</a:t>
              </a:r>
              <a:endParaRPr lang="en-US" sz="4600" dirty="0"/>
            </a:p>
          </p:txBody>
        </p:sp>
        <p:sp>
          <p:nvSpPr>
            <p:cNvPr id="8" name="Text 5"/>
            <p:cNvSpPr>
              <a:spLocks/>
            </p:cNvSpPr>
            <p:nvPr/>
          </p:nvSpPr>
          <p:spPr>
            <a:xfrm>
              <a:off x="5953759" y="3397937"/>
              <a:ext cx="5689295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r" rtl="1"/>
              <a:r>
                <a:rPr lang="en-US" sz="2000" dirty="0">
                  <a:solidFill>
                    <a:srgbClr val="9DB0C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بمستوى Zoom Earth , Windy</a:t>
              </a:r>
              <a:r>
                <a:rPr lang="ar-AE" sz="2000" dirty="0">
                  <a:solidFill>
                    <a:srgbClr val="9DB0C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عربية</a:t>
              </a:r>
              <a:r>
                <a:rPr lang="en-US" sz="2000" dirty="0">
                  <a:solidFill>
                    <a:srgbClr val="9DB0C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بالكامل وجاهزة للإطلاق</a:t>
              </a:r>
              <a:endParaRPr lang="en-US" sz="2000" dirty="0"/>
            </a:p>
          </p:txBody>
        </p:sp>
        <p:sp>
          <p:nvSpPr>
            <p:cNvPr id="9" name="Shape 6"/>
            <p:cNvSpPr>
              <a:spLocks/>
            </p:cNvSpPr>
            <p:nvPr/>
          </p:nvSpPr>
          <p:spPr>
            <a:xfrm>
              <a:off x="9210750" y="4453911"/>
              <a:ext cx="2432304" cy="502920"/>
            </a:xfrm>
            <a:prstGeom prst="roundRect">
              <a:avLst>
                <a:gd name="adj" fmla="val 49091"/>
              </a:avLst>
            </a:prstGeom>
            <a:solidFill>
              <a:srgbClr val="111B2E"/>
            </a:solidFill>
            <a:ln w="12700">
              <a:solidFill>
                <a:srgbClr val="1CA9DF"/>
              </a:solidFill>
              <a:prstDash val="solid"/>
            </a:ln>
          </p:spPr>
          <p:txBody>
            <a:bodyPr/>
            <a:lstStyle/>
            <a:p>
              <a:endParaRPr lang="ar-SA" dirty="0"/>
            </a:p>
          </p:txBody>
        </p:sp>
        <p:sp>
          <p:nvSpPr>
            <p:cNvPr id="10" name="Text 7"/>
            <p:cNvSpPr>
              <a:spLocks/>
            </p:cNvSpPr>
            <p:nvPr/>
          </p:nvSpPr>
          <p:spPr>
            <a:xfrm>
              <a:off x="9210750" y="4474231"/>
              <a:ext cx="243230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rtl="1"/>
              <a:r>
                <a:rPr lang="en-US" sz="1250" dirty="0">
                  <a:solidFill>
                    <a:srgbClr val="E8EE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جسيمات رياح متحركة</a:t>
              </a:r>
              <a:endParaRPr lang="en-US" sz="1250" dirty="0"/>
            </a:p>
          </p:txBody>
        </p:sp>
        <p:sp>
          <p:nvSpPr>
            <p:cNvPr id="11" name="Shape 8"/>
            <p:cNvSpPr>
              <a:spLocks/>
            </p:cNvSpPr>
            <p:nvPr/>
          </p:nvSpPr>
          <p:spPr>
            <a:xfrm>
              <a:off x="6906462" y="4474231"/>
              <a:ext cx="2075688" cy="502920"/>
            </a:xfrm>
            <a:prstGeom prst="roundRect">
              <a:avLst>
                <a:gd name="adj" fmla="val 49091"/>
              </a:avLst>
            </a:prstGeom>
            <a:solidFill>
              <a:srgbClr val="111B2E"/>
            </a:solidFill>
            <a:ln w="12700">
              <a:solidFill>
                <a:srgbClr val="1CA9DF"/>
              </a:solidFill>
              <a:prstDash val="solid"/>
            </a:ln>
          </p:spPr>
        </p:sp>
        <p:sp>
          <p:nvSpPr>
            <p:cNvPr id="12" name="Text 9"/>
            <p:cNvSpPr>
              <a:spLocks/>
            </p:cNvSpPr>
            <p:nvPr/>
          </p:nvSpPr>
          <p:spPr>
            <a:xfrm>
              <a:off x="6906462" y="4453911"/>
              <a:ext cx="207568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rtl="1"/>
              <a:r>
                <a:rPr lang="en-US" sz="1250" dirty="0">
                  <a:solidFill>
                    <a:srgbClr val="E8EE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‏13 طبقة بيانات</a:t>
              </a:r>
              <a:endParaRPr lang="en-US" sz="1250" dirty="0"/>
            </a:p>
          </p:txBody>
        </p:sp>
        <p:sp>
          <p:nvSpPr>
            <p:cNvPr id="13" name="Shape 10"/>
            <p:cNvSpPr>
              <a:spLocks/>
            </p:cNvSpPr>
            <p:nvPr/>
          </p:nvSpPr>
          <p:spPr>
            <a:xfrm>
              <a:off x="4958790" y="4474231"/>
              <a:ext cx="1719072" cy="502920"/>
            </a:xfrm>
            <a:prstGeom prst="roundRect">
              <a:avLst>
                <a:gd name="adj" fmla="val 49091"/>
              </a:avLst>
            </a:prstGeom>
            <a:solidFill>
              <a:srgbClr val="111B2E"/>
            </a:solidFill>
            <a:ln w="12700">
              <a:solidFill>
                <a:srgbClr val="1CA9DF"/>
              </a:solidFill>
              <a:prstDash val="solid"/>
            </a:ln>
          </p:spPr>
          <p:txBody>
            <a:bodyPr/>
            <a:lstStyle/>
            <a:p>
              <a:endParaRPr lang="ar-SA" dirty="0"/>
            </a:p>
          </p:txBody>
        </p:sp>
        <p:sp>
          <p:nvSpPr>
            <p:cNvPr id="14" name="Text 11"/>
            <p:cNvSpPr>
              <a:spLocks/>
            </p:cNvSpPr>
            <p:nvPr/>
          </p:nvSpPr>
          <p:spPr>
            <a:xfrm>
              <a:off x="4958790" y="4453911"/>
              <a:ext cx="1719072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rtl="1"/>
              <a:r>
                <a:rPr lang="en-US" sz="1250" dirty="0">
                  <a:solidFill>
                    <a:srgbClr val="E8EE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‏GPU / WebGL</a:t>
              </a:r>
              <a:endParaRPr lang="en-US" sz="1250" dirty="0"/>
            </a:p>
          </p:txBody>
        </p:sp>
        <p:sp>
          <p:nvSpPr>
            <p:cNvPr id="15" name="Shape 12"/>
            <p:cNvSpPr>
              <a:spLocks/>
            </p:cNvSpPr>
            <p:nvPr/>
          </p:nvSpPr>
          <p:spPr>
            <a:xfrm>
              <a:off x="3486606" y="4453911"/>
              <a:ext cx="1243584" cy="502920"/>
            </a:xfrm>
            <a:prstGeom prst="roundRect">
              <a:avLst>
                <a:gd name="adj" fmla="val 49091"/>
              </a:avLst>
            </a:prstGeom>
            <a:solidFill>
              <a:srgbClr val="111B2E"/>
            </a:solidFill>
            <a:ln w="12700">
              <a:solidFill>
                <a:srgbClr val="1CA9DF"/>
              </a:solidFill>
              <a:prstDash val="solid"/>
            </a:ln>
          </p:spPr>
          <p:txBody>
            <a:bodyPr/>
            <a:lstStyle/>
            <a:p>
              <a:endParaRPr lang="ar-SA" dirty="0"/>
            </a:p>
          </p:txBody>
        </p:sp>
        <p:sp>
          <p:nvSpPr>
            <p:cNvPr id="16" name="Text 13"/>
            <p:cNvSpPr>
              <a:spLocks/>
            </p:cNvSpPr>
            <p:nvPr/>
          </p:nvSpPr>
          <p:spPr>
            <a:xfrm>
              <a:off x="3486606" y="4474231"/>
              <a:ext cx="1243584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rtl="1"/>
              <a:r>
                <a:rPr lang="en-US" sz="1250" dirty="0">
                  <a:solidFill>
                    <a:srgbClr val="E8EEF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عربي RTL</a:t>
              </a:r>
              <a:endParaRPr lang="en-US" sz="125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b="1" kern="0" spc="200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نظرة عامة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34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ما هو Sky Radar؟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126480" y="1828800"/>
            <a:ext cx="5577840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30000"/>
              </a:lnSpc>
            </a:pPr>
            <a:r>
              <a:rPr lang="en-US" sz="20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منصّة</a:t>
            </a:r>
            <a:r>
              <a:rPr lang="en-US" sz="20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AE" sz="20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خرائط </a:t>
            </a:r>
            <a:r>
              <a:rPr lang="en-US" sz="20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تفاعلية متكاملة تعرض بيانات الطقس العالمية فوق </a:t>
            </a:r>
            <a:r>
              <a:rPr lang="en-US" sz="20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</a:t>
            </a:r>
            <a:r>
              <a:rPr lang="en-US" sz="20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أنيقة</a:t>
            </a:r>
            <a:r>
              <a:rPr lang="en-US" sz="20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مع جسيمات رياح متحركة بأسلوب سينمائي وشريط زمني للتنقّل بين ساعات التوقّعات. الواجهة عربية </a:t>
            </a:r>
            <a:r>
              <a:rPr lang="en-US" sz="20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بالكامل</a:t>
            </a:r>
            <a:r>
              <a:rPr lang="en-US" sz="20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0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وتركّز</a:t>
            </a:r>
            <a:r>
              <a:rPr lang="en-US" sz="20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على المنطقة العربية.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74920" y="2020824"/>
            <a:ext cx="457200" cy="45720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7216" y="2103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911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عالمية تفاعلية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2276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25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تركّز على المنطقة العربية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62072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74920" y="3099816"/>
            <a:ext cx="457200" cy="45720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7216" y="31821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990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جسيمات رياح متحركة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77240" y="3355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25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WebGL على معالج الرسوميات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941064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074920" y="4178808"/>
            <a:ext cx="457200" cy="45720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7216" y="4261104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زمني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777240" y="4434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25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ماضٍ مرصود + مستقبل متوقّع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5020056"/>
            <a:ext cx="5394960" cy="932688"/>
          </a:xfrm>
          <a:prstGeom prst="roundRect">
            <a:avLst>
              <a:gd name="adj" fmla="val 882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ar-SA" dirty="0"/>
          </a:p>
        </p:txBody>
      </p:sp>
      <p:sp>
        <p:nvSpPr>
          <p:cNvPr id="21" name="Shape 16"/>
          <p:cNvSpPr/>
          <p:nvPr/>
        </p:nvSpPr>
        <p:spPr>
          <a:xfrm>
            <a:off x="5074920" y="5257800"/>
            <a:ext cx="457200" cy="45720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534009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51480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6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عربية كاملة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77240" y="5513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25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تصميم</a:t>
            </a:r>
            <a:r>
              <a:rPr lang="en-US" sz="125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داكن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b="1" kern="0" spc="200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34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‏ 13 </a:t>
            </a:r>
            <a:r>
              <a:rPr lang="en-US" sz="3400" b="1" dirty="0" err="1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طبقة</a:t>
            </a:r>
            <a:r>
              <a:rPr lang="en-US" sz="34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طقس في منصّة واحدة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012784" y="1828800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14152" y="2084832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3880" y="219456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84640" y="2121408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الرياح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78144" y="1828800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979512" y="2084832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240" y="219456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0000" y="2121408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هبّات الرياح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3343504" y="1828800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144872" y="2084832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4600" y="219456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515360" y="2121408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الحرارة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08864" y="1828800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310232" y="2084832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9960" y="219456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0720" y="2121408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الإحساس الحراري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9012784" y="3090672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814152" y="3346704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23880" y="3456432"/>
            <a:ext cx="347472" cy="34747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84640" y="3383280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الأمطار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6178144" y="3090672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979512" y="3346704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89240" y="3456432"/>
            <a:ext cx="34747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350000" y="3383280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الضغط الجوي</a:t>
            </a:r>
            <a:endParaRPr lang="en-US" sz="1450" dirty="0"/>
          </a:p>
        </p:txBody>
      </p:sp>
      <p:sp>
        <p:nvSpPr>
          <p:cNvPr id="28" name="Shape 20"/>
          <p:cNvSpPr/>
          <p:nvPr/>
        </p:nvSpPr>
        <p:spPr>
          <a:xfrm>
            <a:off x="3343504" y="3090672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144872" y="3346704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4600" y="3456432"/>
            <a:ext cx="347472" cy="34747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515360" y="3383280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الرطوبة</a:t>
            </a:r>
            <a:endParaRPr lang="en-US" sz="1450" dirty="0"/>
          </a:p>
        </p:txBody>
      </p:sp>
      <p:sp>
        <p:nvSpPr>
          <p:cNvPr id="32" name="Shape 23"/>
          <p:cNvSpPr/>
          <p:nvPr/>
        </p:nvSpPr>
        <p:spPr>
          <a:xfrm>
            <a:off x="508864" y="3090672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2310232" y="3346704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9960" y="3456432"/>
            <a:ext cx="347472" cy="34747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0720" y="3383280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نقطة الندى</a:t>
            </a:r>
            <a:endParaRPr lang="en-US" sz="1450" dirty="0"/>
          </a:p>
        </p:txBody>
      </p:sp>
      <p:sp>
        <p:nvSpPr>
          <p:cNvPr id="36" name="Shape 26"/>
          <p:cNvSpPr/>
          <p:nvPr/>
        </p:nvSpPr>
        <p:spPr>
          <a:xfrm>
            <a:off x="9012784" y="4352544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0814152" y="4608576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23880" y="4718304"/>
            <a:ext cx="347472" cy="34747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9184640" y="4645152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الغيوم</a:t>
            </a:r>
            <a:endParaRPr lang="en-US" sz="1450" dirty="0"/>
          </a:p>
        </p:txBody>
      </p:sp>
      <p:sp>
        <p:nvSpPr>
          <p:cNvPr id="40" name="Shape 29"/>
          <p:cNvSpPr/>
          <p:nvPr/>
        </p:nvSpPr>
        <p:spPr>
          <a:xfrm>
            <a:off x="6178144" y="4352544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7979512" y="4608576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89240" y="4718304"/>
            <a:ext cx="347472" cy="34747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6350000" y="4645152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رادار المطر</a:t>
            </a:r>
            <a:endParaRPr lang="en-US" sz="1450" dirty="0"/>
          </a:p>
        </p:txBody>
      </p:sp>
      <p:sp>
        <p:nvSpPr>
          <p:cNvPr id="44" name="Shape 32"/>
          <p:cNvSpPr/>
          <p:nvPr/>
        </p:nvSpPr>
        <p:spPr>
          <a:xfrm>
            <a:off x="3343504" y="4352544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5144872" y="4608576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4600" y="4718304"/>
            <a:ext cx="347472" cy="34747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515360" y="4645152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أقمار صناعية</a:t>
            </a:r>
            <a:endParaRPr lang="en-US" sz="1450" dirty="0"/>
          </a:p>
        </p:txBody>
      </p:sp>
      <p:sp>
        <p:nvSpPr>
          <p:cNvPr id="48" name="Shape 35"/>
          <p:cNvSpPr/>
          <p:nvPr/>
        </p:nvSpPr>
        <p:spPr>
          <a:xfrm>
            <a:off x="508864" y="4352544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2310232" y="4608576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19960" y="4718304"/>
            <a:ext cx="347472" cy="34747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80720" y="4645152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الأعاصير</a:t>
            </a:r>
            <a:endParaRPr lang="en-US" sz="1450" dirty="0"/>
          </a:p>
        </p:txBody>
      </p:sp>
      <p:sp>
        <p:nvSpPr>
          <p:cNvPr id="52" name="Shape 38"/>
          <p:cNvSpPr/>
          <p:nvPr/>
        </p:nvSpPr>
        <p:spPr>
          <a:xfrm>
            <a:off x="9012784" y="5614416"/>
            <a:ext cx="2670048" cy="1078992"/>
          </a:xfrm>
          <a:prstGeom prst="roundRect">
            <a:avLst>
              <a:gd name="adj" fmla="val 7627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3" name="Shape 39"/>
          <p:cNvSpPr/>
          <p:nvPr/>
        </p:nvSpPr>
        <p:spPr>
          <a:xfrm>
            <a:off x="10814152" y="5870448"/>
            <a:ext cx="566928" cy="56692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1CA9DF"/>
            </a:solidFill>
            <a:prstDash val="solid"/>
          </a:ln>
        </p:spPr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23880" y="5980176"/>
            <a:ext cx="347472" cy="347472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9184640" y="5907024"/>
            <a:ext cx="1492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5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الحرائق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b="1" kern="0" spc="200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البنية التقنية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34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بُني بأحدث التقنيات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532120" cy="3657600"/>
          </a:xfrm>
          <a:prstGeom prst="roundRect">
            <a:avLst>
              <a:gd name="adj" fmla="val 2250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ar-SA" dirty="0"/>
          </a:p>
        </p:txBody>
      </p:sp>
      <p:sp>
        <p:nvSpPr>
          <p:cNvPr id="6" name="Text 4"/>
          <p:cNvSpPr/>
          <p:nvPr/>
        </p:nvSpPr>
        <p:spPr>
          <a:xfrm>
            <a:off x="1371600" y="21356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2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الفرونت اند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577840" y="295351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34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577840" y="345643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3375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577840" y="395935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40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MapLibre GL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577840" y="446227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343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/ GPU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577840" y="496519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8463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4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99632" y="1828800"/>
            <a:ext cx="5532120" cy="3657600"/>
          </a:xfrm>
          <a:prstGeom prst="roundRect">
            <a:avLst>
              <a:gd name="adj" fmla="val 2250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ar-SA" dirty="0"/>
          </a:p>
        </p:txBody>
      </p:sp>
      <p:sp>
        <p:nvSpPr>
          <p:cNvPr id="19" name="Text 17"/>
          <p:cNvSpPr/>
          <p:nvPr/>
        </p:nvSpPr>
        <p:spPr>
          <a:xfrm>
            <a:off x="7022592" y="213563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ar-AE" sz="24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الباك اند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1228832" y="295351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28346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Laravel 12 (PHP)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11228832" y="345643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23" name="Text 21"/>
          <p:cNvSpPr/>
          <p:nvPr/>
        </p:nvSpPr>
        <p:spPr>
          <a:xfrm>
            <a:off x="6473952" y="33375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طبقة</a:t>
            </a:r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(Proxy + Cache) </a:t>
            </a:r>
            <a:r>
              <a:rPr lang="ar-AE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ذ</a:t>
            </a:r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كية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11228832" y="395935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25" name="Text 23"/>
          <p:cNvSpPr/>
          <p:nvPr/>
        </p:nvSpPr>
        <p:spPr>
          <a:xfrm>
            <a:off x="6473952" y="384048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 9 خدمات مستقلة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11228832" y="446227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434340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Stale-while-revalidate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1228832" y="4965192"/>
            <a:ext cx="128016" cy="128016"/>
          </a:xfrm>
          <a:prstGeom prst="ellipse">
            <a:avLst/>
          </a:prstGeom>
          <a:solidFill>
            <a:srgbClr val="1CA9DF"/>
          </a:solidFill>
          <a:ln/>
        </p:spPr>
      </p:sp>
      <p:sp>
        <p:nvSpPr>
          <p:cNvPr id="29" name="Text 27"/>
          <p:cNvSpPr/>
          <p:nvPr/>
        </p:nvSpPr>
        <p:spPr>
          <a:xfrm>
            <a:off x="6473952" y="48463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معمارية نظيفة </a:t>
            </a:r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قابلة</a:t>
            </a:r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للتوسّع</a:t>
            </a:r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AE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مستقبلا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b="1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≈ 16,000 </a:t>
            </a:r>
            <a:r>
              <a:rPr lang="en-US" b="1" dirty="0" err="1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سطر</a:t>
            </a:r>
            <a:r>
              <a:rPr lang="en-US" b="1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كود إنتاجي </a:t>
            </a:r>
            <a:r>
              <a:rPr lang="en-US" b="1" dirty="0" err="1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فعلي</a:t>
            </a:r>
            <a:r>
              <a:rPr lang="en-US" b="1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AE" b="1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b="1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b="1" dirty="0" err="1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مشروع</a:t>
            </a:r>
            <a:r>
              <a:rPr lang="en-US" b="1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مكتمل يعمل الآن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b="1" kern="0" spc="200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آلية العمل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099098" y="868680"/>
            <a:ext cx="451378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34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البيانات العالمية إلى شاشتك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6743" y="2194560"/>
            <a:ext cx="2386584" cy="2651760"/>
          </a:xfrm>
          <a:prstGeom prst="roundRect">
            <a:avLst>
              <a:gd name="adj" fmla="val 3158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28555" y="2468880"/>
            <a:ext cx="822960" cy="82296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3147" y="263347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37015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CA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‏1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6743" y="370332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عالمية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9174175" y="4114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15000"/>
              </a:lnSpc>
            </a:pPr>
            <a:r>
              <a:rPr lang="en-US" sz="15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نماذج</a:t>
            </a:r>
            <a:r>
              <a:rPr lang="en-US" sz="15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NOAA GFS , DWD ICON </a:t>
            </a:r>
            <a:r>
              <a:rPr lang="en-US" sz="15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عبر</a:t>
            </a:r>
            <a:r>
              <a:rPr lang="en-US" sz="15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مزوّدات مفتوحة</a:t>
            </a:r>
            <a:endParaRPr lang="en-US" sz="15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9002" y="324612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17285" y="2194560"/>
            <a:ext cx="2386584" cy="2651760"/>
          </a:xfrm>
          <a:prstGeom prst="roundRect">
            <a:avLst>
              <a:gd name="adj" fmla="val 3158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ar-SA" dirty="0"/>
          </a:p>
        </p:txBody>
      </p:sp>
      <p:sp>
        <p:nvSpPr>
          <p:cNvPr id="12" name="Shape 8"/>
          <p:cNvSpPr/>
          <p:nvPr/>
        </p:nvSpPr>
        <p:spPr>
          <a:xfrm>
            <a:off x="7099097" y="2468880"/>
            <a:ext cx="822960" cy="82296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689" y="263347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07557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CA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‏2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317285" y="370332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خادم Laravel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6344717" y="4114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15000"/>
              </a:lnSpc>
            </a:pPr>
            <a:r>
              <a:rPr lang="en-US" sz="15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يبني الشبكة ويخزّنها مؤقتاً بذكاء</a:t>
            </a:r>
            <a:endParaRPr lang="en-US" sz="15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9544" y="324612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3487826" y="2194560"/>
            <a:ext cx="2386584" cy="2651760"/>
          </a:xfrm>
          <a:prstGeom prst="roundRect">
            <a:avLst>
              <a:gd name="adj" fmla="val 3158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269638" y="2468880"/>
            <a:ext cx="822960" cy="82296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230" y="2633472"/>
            <a:ext cx="493776" cy="49377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378098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CA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‏3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3487826" y="370332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معالجة على GPU</a:t>
            </a:r>
            <a:endParaRPr lang="en-US" dirty="0"/>
          </a:p>
        </p:txBody>
      </p:sp>
      <p:sp>
        <p:nvSpPr>
          <p:cNvPr id="23" name="Text 16"/>
          <p:cNvSpPr/>
          <p:nvPr/>
        </p:nvSpPr>
        <p:spPr>
          <a:xfrm>
            <a:off x="3515258" y="4114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15000"/>
              </a:lnSpc>
            </a:pPr>
            <a:r>
              <a:rPr lang="en-US" sz="15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 البيانات والاستيفاء داخل المتصفّح</a:t>
            </a:r>
            <a:endParaRPr lang="en-US" sz="15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0085" y="324612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58368" y="2194560"/>
            <a:ext cx="2386584" cy="2651760"/>
          </a:xfrm>
          <a:prstGeom prst="roundRect">
            <a:avLst>
              <a:gd name="adj" fmla="val 3158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1440180" y="2468880"/>
            <a:ext cx="822960" cy="82296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4772" y="2633472"/>
            <a:ext cx="493776" cy="49377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48640" y="3383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CA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‏4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658368" y="3703320"/>
            <a:ext cx="2386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حيّ</a:t>
            </a:r>
            <a:endParaRPr lang="en-US" dirty="0"/>
          </a:p>
        </p:txBody>
      </p:sp>
      <p:sp>
        <p:nvSpPr>
          <p:cNvPr id="30" name="Text 21"/>
          <p:cNvSpPr/>
          <p:nvPr/>
        </p:nvSpPr>
        <p:spPr>
          <a:xfrm>
            <a:off x="685800" y="41148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rtl="1">
              <a:lnSpc>
                <a:spcPct val="115000"/>
              </a:lnSpc>
            </a:pPr>
            <a:r>
              <a:rPr lang="en-US" sz="15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 heatmap </a:t>
            </a:r>
            <a:r>
              <a:rPr lang="en-US" sz="15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ملوّن</a:t>
            </a:r>
            <a:r>
              <a:rPr lang="en-US" sz="15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r>
              <a:rPr lang="en-US" sz="15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جسيمات</a:t>
            </a:r>
            <a:r>
              <a:rPr lang="en-US" sz="15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‏60 إطار/ثانية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0" y="50292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b="1" kern="0" spc="200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الميزة التنافسية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34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تكلفة تشغيل شبه صفرية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126480" y="1828800"/>
            <a:ext cx="5577840" cy="3840480"/>
          </a:xfrm>
          <a:prstGeom prst="roundRect">
            <a:avLst>
              <a:gd name="adj" fmla="val 2143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21945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6000" b="1" dirty="0">
                <a:solidFill>
                  <a:srgbClr val="1CA9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≈ صفر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309360" y="3291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تراخيص البيانات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09360" y="379476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35000"/>
              </a:lnSpc>
            </a:pPr>
            <a:r>
              <a:rPr lang="en-US" sz="155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مصادر مفتوحة مجانية: Open-Meteo • NASA GIBS • RainViewer • FIRMS — </a:t>
            </a:r>
            <a:r>
              <a:rPr lang="en-US" sz="155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بدلاً</a:t>
            </a:r>
            <a:r>
              <a:rPr lang="en-US" sz="155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من التراخيص المكلفة التي تعتمدها المنصّات المنافسة.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2194560"/>
            <a:ext cx="502920" cy="50292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2860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مفتوحة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77240" y="24505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</a:t>
            </a:r>
            <a:r>
              <a:rPr lang="en-US" sz="16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</a:t>
            </a: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APIشهرية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29200" y="3520440"/>
            <a:ext cx="502920" cy="50292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61188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" y="33558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تخزين مؤقت ذكي</a:t>
            </a: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777240" y="3776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حتى عند تعطّل المزوّد (Stale-while-revalidate)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4480560"/>
            <a:ext cx="5394960" cy="1207008"/>
          </a:xfrm>
          <a:prstGeom prst="roundRect">
            <a:avLst>
              <a:gd name="adj" fmla="val 6818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029200" y="4846320"/>
            <a:ext cx="502920" cy="50292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493776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468172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استضافة خفيفة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777240" y="51023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متطلبات خوادم منخفضة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400" b="1" kern="0" spc="200" dirty="0">
                <a:solidFill>
                  <a:srgbClr val="1CA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 للنمو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34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تطويرات قادمة ولوحة تحكّم للإدارة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79120" y="162001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النظام </a:t>
            </a:r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مصمَّم</a:t>
            </a:r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ليتوسّع</a:t>
            </a:r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ستُضاف</a:t>
            </a:r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عليه ميزات جديدة تباعاً، وعلى رأسها لوحة </a:t>
            </a:r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تحكّم</a:t>
            </a:r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(Dashboard)</a:t>
            </a:r>
            <a:r>
              <a:rPr lang="en-US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كاملة</a:t>
            </a:r>
            <a:r>
              <a:rPr lang="en-US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للمشرف لإدارة المحتوى والطبقات والمستخدمين.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66380" y="251460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6314D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37012" y="2689352"/>
            <a:ext cx="548640" cy="548640"/>
          </a:xfrm>
          <a:prstGeom prst="ellipse">
            <a:avLst/>
          </a:prstGeom>
          <a:solidFill>
            <a:srgbClr val="1CA9D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884" y="2808224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4256" y="2692400"/>
            <a:ext cx="132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تحكّم للأدمن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94980" y="33558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الطبقات والمحتوى والإعدادات والمستخدمين من مكان واحد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289908" y="251460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060540" y="2689352"/>
            <a:ext cx="548640" cy="54864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9412" y="28082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8640" y="2692400"/>
            <a:ext cx="132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جوية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518508" y="33558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إشعارات تلقائية عند الظواهر الحرجة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13436" y="2514600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84068" y="2689352"/>
            <a:ext cx="548640" cy="54864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940" y="28082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52168" y="2692400"/>
            <a:ext cx="132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موبايل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742036" y="335584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أصلية على iOS و Android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8066380" y="4270248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837012" y="4445000"/>
            <a:ext cx="548640" cy="54864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5884" y="456387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14256" y="4448048"/>
            <a:ext cx="132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‏API للمطوّرين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8294980" y="511149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إتاحة البيانات لأنظمة وجهات أخرى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299052" y="4270248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060540" y="4445000"/>
            <a:ext cx="548640" cy="54864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9412" y="456387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628640" y="4448048"/>
            <a:ext cx="132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طبقات إضافية</a:t>
            </a:r>
            <a:endParaRPr lang="en-US" sz="1700" dirty="0"/>
          </a:p>
        </p:txBody>
      </p:sp>
      <p:sp>
        <p:nvSpPr>
          <p:cNvPr id="29" name="Text 22"/>
          <p:cNvSpPr/>
          <p:nvPr/>
        </p:nvSpPr>
        <p:spPr>
          <a:xfrm>
            <a:off x="4518508" y="511149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توسعة مستمرة لمصادر ونماذج جديدة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513436" y="4270248"/>
            <a:ext cx="3611880" cy="1554480"/>
          </a:xfrm>
          <a:prstGeom prst="roundRect">
            <a:avLst>
              <a:gd name="adj" fmla="val 5294"/>
            </a:avLst>
          </a:prstGeom>
          <a:solidFill>
            <a:srgbClr val="111B2E"/>
          </a:solidFill>
          <a:ln w="12700">
            <a:solidFill>
              <a:srgbClr val="243349"/>
            </a:solidFill>
            <a:prstDash val="solid"/>
          </a:ln>
          <a:effectLst>
            <a:outerShdw blurRad="1143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3284068" y="4445000"/>
            <a:ext cx="548640" cy="54864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2940" y="4563872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852168" y="4448048"/>
            <a:ext cx="13282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rtl="1"/>
            <a:r>
              <a:rPr lang="en-US" sz="1700" b="1" dirty="0">
                <a:solidFill>
                  <a:srgbClr val="E8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تحسين الأداء</a:t>
            </a:r>
            <a:endParaRPr lang="en-US" sz="1700" dirty="0"/>
          </a:p>
        </p:txBody>
      </p:sp>
      <p:sp>
        <p:nvSpPr>
          <p:cNvPr id="34" name="Text 26"/>
          <p:cNvSpPr/>
          <p:nvPr/>
        </p:nvSpPr>
        <p:spPr>
          <a:xfrm>
            <a:off x="742036" y="511149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rtl="1">
              <a:lnSpc>
                <a:spcPct val="115000"/>
              </a:lnSpc>
            </a:pPr>
            <a:r>
              <a:rPr lang="en-US" sz="16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طلبات مجمّعة لرفع الدقّة والسرعة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194560"/>
            <a:ext cx="6858000" cy="6858000"/>
          </a:xfrm>
          <a:prstGeom prst="ellipse">
            <a:avLst/>
          </a:prstGeom>
          <a:solidFill>
            <a:srgbClr val="0D76B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2B3A8C">
              <a:alpha val="26000"/>
            </a:srgbClr>
          </a:solidFill>
          <a:ln/>
        </p:spPr>
      </p:sp>
      <p:pic>
        <p:nvPicPr>
          <p:cNvPr id="4" name="Image 0" descr="assets/logo-0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26080" y="5734"/>
            <a:ext cx="6075680" cy="38347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9640" y="2926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sz="40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جاهز </a:t>
            </a:r>
            <a:r>
              <a:rPr lang="en-US" sz="4000" b="1" dirty="0" err="1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للإطلاق</a:t>
            </a:r>
            <a:r>
              <a:rPr lang="en-US" sz="40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اليوم</a:t>
            </a:r>
            <a:r>
              <a:rPr lang="en-US" sz="40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ar-AE" sz="40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كـ </a:t>
            </a:r>
            <a:r>
              <a:rPr lang="en-US" sz="4000" b="1" dirty="0">
                <a:solidFill>
                  <a:srgbClr val="E8EE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MVP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29640" y="3977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en-US" sz="19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منتج</a:t>
            </a:r>
            <a:r>
              <a:rPr lang="en-US" sz="19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مكتمل</a:t>
            </a:r>
            <a:r>
              <a:rPr lang="en-US" sz="19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r>
              <a:rPr lang="ar-AE" sz="19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19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</a:t>
            </a:r>
            <a:r>
              <a:rPr lang="en-US" sz="19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وخلفية</a:t>
            </a:r>
            <a:r>
              <a:rPr lang="en-US" sz="19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AE" sz="19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9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00" dirty="0" err="1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قابل</a:t>
            </a:r>
            <a:r>
              <a:rPr lang="en-US" sz="1900" dirty="0">
                <a:solidFill>
                  <a:srgbClr val="9D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للتوسّع حسب احتياجك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</TotalTime>
  <Words>385</Words>
  <Application>Microsoft Office PowerPoint</Application>
  <PresentationFormat>شاشة عريضة</PresentationFormat>
  <Paragraphs>97</Paragraphs>
  <Slides>8</Slides>
  <Notes>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1" baseType="lpstr">
      <vt:lpstr>Arial</vt:lpstr>
      <vt:lpstr>Cambria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 Radar — منصة الطقس التفاعلية</dc:title>
  <dc:subject>PptxGenJS Presentation</dc:subject>
  <dc:creator>Sky Radar</dc:creator>
  <cp:lastModifiedBy>rami almallahi</cp:lastModifiedBy>
  <cp:revision>2</cp:revision>
  <dcterms:created xsi:type="dcterms:W3CDTF">2026-06-20T19:08:26Z</dcterms:created>
  <dcterms:modified xsi:type="dcterms:W3CDTF">2026-06-20T20:01:48Z</dcterms:modified>
</cp:coreProperties>
</file>