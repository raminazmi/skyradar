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slideLayout" Target="../slideLayouts/slideLayout1.xml"/><Relationship Id="rId1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7772400" y="-2011680"/>
            <a:ext cx="6400800" cy="6400800"/>
          </a:xfrm>
          <a:prstGeom prst="ellipse">
            <a:avLst/>
          </a:prstGeom>
          <a:solidFill>
            <a:srgbClr val="0D76B3">
              <a:alpha val="22000"/>
            </a:srgbClr>
          </a:solidFill>
          <a:ln/>
        </p:spPr>
      </p:sp>
      <p:sp>
        <p:nvSpPr>
          <p:cNvPr id="3" name="Shape 1"/>
          <p:cNvSpPr/>
          <p:nvPr/>
        </p:nvSpPr>
        <p:spPr>
          <a:xfrm>
            <a:off x="8961120" y="2377440"/>
            <a:ext cx="5029200" cy="5029200"/>
          </a:xfrm>
          <a:prstGeom prst="ellipse">
            <a:avLst/>
          </a:prstGeom>
          <a:solidFill>
            <a:srgbClr val="1CA9DF">
              <a:alpha val="18000"/>
            </a:srgbClr>
          </a:solidFill>
          <a:ln/>
        </p:spPr>
      </p:sp>
      <p:sp>
        <p:nvSpPr>
          <p:cNvPr id="4" name="Shape 2"/>
          <p:cNvSpPr/>
          <p:nvPr/>
        </p:nvSpPr>
        <p:spPr>
          <a:xfrm>
            <a:off x="-1645920" y="3840480"/>
            <a:ext cx="4572000" cy="4572000"/>
          </a:xfrm>
          <a:prstGeom prst="ellipse">
            <a:avLst/>
          </a:prstGeom>
          <a:solidFill>
            <a:srgbClr val="2B3A8C">
              <a:alpha val="30000"/>
            </a:srgbClr>
          </a:solidFill>
          <a:ln/>
        </p:spPr>
      </p:sp>
      <p:pic>
        <p:nvPicPr>
          <p:cNvPr id="5" name="Image 0" descr="assets/logo-04.png">    </p:cNvPr>
          <p:cNvPicPr>
            <a:picLocks noChangeAspect="1"/>
          </p:cNvPicPr>
          <p:nvPr/>
        </p:nvPicPr>
        <p:blipFill>
          <a:blip r:embed="rId1"/>
          <a:srcRect l="-40000" r="-40000" t="0" b="0"/>
          <a:stretch/>
        </p:blipFill>
        <p:spPr>
          <a:xfrm>
            <a:off x="777240" y="640080"/>
            <a:ext cx="2468880" cy="1371600"/>
          </a:xfrm>
          <a:prstGeom prst="rect">
            <a:avLst/>
          </a:prstGeom>
        </p:spPr>
      </p:pic>
      <p:sp>
        <p:nvSpPr>
          <p:cNvPr id="6" name="Text 3"/>
          <p:cNvSpPr/>
          <p:nvPr/>
        </p:nvSpPr>
        <p:spPr>
          <a:xfrm>
            <a:off x="548640" y="2788920"/>
            <a:ext cx="8229600" cy="457200"/>
          </a:xfrm>
          <a:prstGeom prst="rect">
            <a:avLst/>
          </a:prstGeom>
          <a:noFill/>
          <a:ln/>
        </p:spPr>
        <p:txBody>
          <a:bodyPr wrap="square" lIns="0" tIns="0" rIns="0" bIns="0" rtlCol="0" anchor="ctr"/>
          <a:lstStyle/>
          <a:p>
            <a:pPr rtl="1" algn="r" indent="0" marL="0">
              <a:buNone/>
            </a:pPr>
            <a:r>
              <a:rPr lang="en-US" sz="1800" b="1" spc="100" kern="0" dirty="0">
                <a:solidFill>
                  <a:srgbClr val="1CA9DF"/>
                </a:solidFill>
                <a:latin typeface="Arial" pitchFamily="34" charset="0"/>
                <a:ea typeface="Arial" pitchFamily="34" charset="-122"/>
                <a:cs typeface="Arial" pitchFamily="34" charset="-120"/>
              </a:rPr>
              <a:t>منصّة الطقس التفاعلية</a:t>
            </a:r>
            <a:endParaRPr lang="en-US" sz="1800" dirty="0"/>
          </a:p>
        </p:txBody>
      </p:sp>
      <p:sp>
        <p:nvSpPr>
          <p:cNvPr id="7" name="Text 4"/>
          <p:cNvSpPr/>
          <p:nvPr/>
        </p:nvSpPr>
        <p:spPr>
          <a:xfrm>
            <a:off x="365760" y="3246120"/>
            <a:ext cx="11430000" cy="1005840"/>
          </a:xfrm>
          <a:prstGeom prst="rect">
            <a:avLst/>
          </a:prstGeom>
          <a:noFill/>
          <a:ln/>
        </p:spPr>
        <p:txBody>
          <a:bodyPr wrap="square" lIns="0" tIns="0" rIns="0" bIns="0" rtlCol="0" anchor="ctr"/>
          <a:lstStyle/>
          <a:p>
            <a:pPr rtl="1" algn="r" indent="0" marL="0">
              <a:buNone/>
            </a:pPr>
            <a:r>
              <a:rPr lang="en-US" sz="4600" b="1" dirty="0">
                <a:solidFill>
                  <a:srgbClr val="E8EEF6"/>
                </a:solidFill>
                <a:latin typeface="Cambria" pitchFamily="34" charset="0"/>
                <a:ea typeface="Cambria" pitchFamily="34" charset="-122"/>
                <a:cs typeface="Cambria" pitchFamily="34" charset="-120"/>
              </a:rPr>
              <a:t>خرائط جوية حيّة بتقنية WebGL</a:t>
            </a:r>
            <a:endParaRPr lang="en-US" sz="4600" dirty="0"/>
          </a:p>
        </p:txBody>
      </p:sp>
      <p:sp>
        <p:nvSpPr>
          <p:cNvPr id="8" name="Text 5"/>
          <p:cNvSpPr/>
          <p:nvPr/>
        </p:nvSpPr>
        <p:spPr>
          <a:xfrm>
            <a:off x="365760" y="4297680"/>
            <a:ext cx="11430000" cy="548640"/>
          </a:xfrm>
          <a:prstGeom prst="rect">
            <a:avLst/>
          </a:prstGeom>
          <a:noFill/>
          <a:ln/>
        </p:spPr>
        <p:txBody>
          <a:bodyPr wrap="square" lIns="0" tIns="0" rIns="0" bIns="0" rtlCol="0" anchor="ctr"/>
          <a:lstStyle/>
          <a:p>
            <a:pPr rtl="1" algn="r" indent="0" marL="0">
              <a:buNone/>
            </a:pPr>
            <a:r>
              <a:rPr lang="en-US" sz="2000" dirty="0">
                <a:solidFill>
                  <a:srgbClr val="9DB0C7"/>
                </a:solidFill>
                <a:latin typeface="Arial" pitchFamily="34" charset="0"/>
                <a:ea typeface="Arial" pitchFamily="34" charset="-122"/>
                <a:cs typeface="Arial" pitchFamily="34" charset="-120"/>
              </a:rPr>
              <a:t>بمستوى Zoom Earth و Windy — معرّبة بالكامل وجاهزة للإطلاق</a:t>
            </a:r>
            <a:endParaRPr lang="en-US" sz="2000" dirty="0"/>
          </a:p>
        </p:txBody>
      </p:sp>
      <p:sp>
        <p:nvSpPr>
          <p:cNvPr id="9" name="Shape 6"/>
          <p:cNvSpPr/>
          <p:nvPr/>
        </p:nvSpPr>
        <p:spPr>
          <a:xfrm>
            <a:off x="9210751" y="5212080"/>
            <a:ext cx="2432304" cy="502920"/>
          </a:xfrm>
          <a:prstGeom prst="roundRect">
            <a:avLst>
              <a:gd name="adj" fmla="val 49091"/>
            </a:avLst>
          </a:prstGeom>
          <a:solidFill>
            <a:srgbClr val="111B2E"/>
          </a:solidFill>
          <a:ln w="12700">
            <a:solidFill>
              <a:srgbClr val="1CA9DF"/>
            </a:solidFill>
            <a:prstDash val="solid"/>
          </a:ln>
        </p:spPr>
      </p:sp>
      <p:sp>
        <p:nvSpPr>
          <p:cNvPr id="10" name="Text 7"/>
          <p:cNvSpPr/>
          <p:nvPr/>
        </p:nvSpPr>
        <p:spPr>
          <a:xfrm>
            <a:off x="9210751" y="5212080"/>
            <a:ext cx="2432304" cy="502920"/>
          </a:xfrm>
          <a:prstGeom prst="rect">
            <a:avLst/>
          </a:prstGeom>
          <a:noFill/>
          <a:ln/>
        </p:spPr>
        <p:txBody>
          <a:bodyPr wrap="square" lIns="0" tIns="0" rIns="0" bIns="0" rtlCol="0" anchor="ctr"/>
          <a:lstStyle/>
          <a:p>
            <a:pPr rtl="1" algn="ctr" indent="0" marL="0">
              <a:buNone/>
            </a:pPr>
            <a:r>
              <a:rPr lang="en-US" sz="1250" dirty="0">
                <a:solidFill>
                  <a:srgbClr val="E8EEF6"/>
                </a:solidFill>
                <a:latin typeface="Arial" pitchFamily="34" charset="0"/>
                <a:ea typeface="Arial" pitchFamily="34" charset="-122"/>
                <a:cs typeface="Arial" pitchFamily="34" charset="-120"/>
              </a:rPr>
              <a:t>جسيمات رياح متحركة</a:t>
            </a:r>
            <a:endParaRPr lang="en-US" sz="1250" dirty="0"/>
          </a:p>
        </p:txBody>
      </p:sp>
      <p:sp>
        <p:nvSpPr>
          <p:cNvPr id="11" name="Shape 8"/>
          <p:cNvSpPr/>
          <p:nvPr/>
        </p:nvSpPr>
        <p:spPr>
          <a:xfrm>
            <a:off x="6906463" y="5212080"/>
            <a:ext cx="2075688" cy="502920"/>
          </a:xfrm>
          <a:prstGeom prst="roundRect">
            <a:avLst>
              <a:gd name="adj" fmla="val 49091"/>
            </a:avLst>
          </a:prstGeom>
          <a:solidFill>
            <a:srgbClr val="111B2E"/>
          </a:solidFill>
          <a:ln w="12700">
            <a:solidFill>
              <a:srgbClr val="1CA9DF"/>
            </a:solidFill>
            <a:prstDash val="solid"/>
          </a:ln>
        </p:spPr>
      </p:sp>
      <p:sp>
        <p:nvSpPr>
          <p:cNvPr id="12" name="Text 9"/>
          <p:cNvSpPr/>
          <p:nvPr/>
        </p:nvSpPr>
        <p:spPr>
          <a:xfrm>
            <a:off x="6906463" y="5212080"/>
            <a:ext cx="2075688" cy="502920"/>
          </a:xfrm>
          <a:prstGeom prst="rect">
            <a:avLst/>
          </a:prstGeom>
          <a:noFill/>
          <a:ln/>
        </p:spPr>
        <p:txBody>
          <a:bodyPr wrap="square" lIns="0" tIns="0" rIns="0" bIns="0" rtlCol="0" anchor="ctr"/>
          <a:lstStyle/>
          <a:p>
            <a:pPr rtl="1" algn="ctr" indent="0" marL="0">
              <a:buNone/>
            </a:pPr>
            <a:r>
              <a:rPr lang="en-US" sz="1250" dirty="0">
                <a:solidFill>
                  <a:srgbClr val="E8EEF6"/>
                </a:solidFill>
                <a:latin typeface="Arial" pitchFamily="34" charset="0"/>
                <a:ea typeface="Arial" pitchFamily="34" charset="-122"/>
                <a:cs typeface="Arial" pitchFamily="34" charset="-120"/>
              </a:rPr>
              <a:t>‏13 طبقة بيانات</a:t>
            </a:r>
            <a:endParaRPr lang="en-US" sz="1250" dirty="0"/>
          </a:p>
        </p:txBody>
      </p:sp>
      <p:sp>
        <p:nvSpPr>
          <p:cNvPr id="13" name="Shape 10"/>
          <p:cNvSpPr/>
          <p:nvPr/>
        </p:nvSpPr>
        <p:spPr>
          <a:xfrm>
            <a:off x="4958791" y="5212080"/>
            <a:ext cx="1719072" cy="502920"/>
          </a:xfrm>
          <a:prstGeom prst="roundRect">
            <a:avLst>
              <a:gd name="adj" fmla="val 49091"/>
            </a:avLst>
          </a:prstGeom>
          <a:solidFill>
            <a:srgbClr val="111B2E"/>
          </a:solidFill>
          <a:ln w="12700">
            <a:solidFill>
              <a:srgbClr val="1CA9DF"/>
            </a:solidFill>
            <a:prstDash val="solid"/>
          </a:ln>
        </p:spPr>
      </p:sp>
      <p:sp>
        <p:nvSpPr>
          <p:cNvPr id="14" name="Text 11"/>
          <p:cNvSpPr/>
          <p:nvPr/>
        </p:nvSpPr>
        <p:spPr>
          <a:xfrm>
            <a:off x="4958791" y="5212080"/>
            <a:ext cx="1719072" cy="502920"/>
          </a:xfrm>
          <a:prstGeom prst="rect">
            <a:avLst/>
          </a:prstGeom>
          <a:noFill/>
          <a:ln/>
        </p:spPr>
        <p:txBody>
          <a:bodyPr wrap="square" lIns="0" tIns="0" rIns="0" bIns="0" rtlCol="0" anchor="ctr"/>
          <a:lstStyle/>
          <a:p>
            <a:pPr rtl="1" algn="ctr" indent="0" marL="0">
              <a:buNone/>
            </a:pPr>
            <a:r>
              <a:rPr lang="en-US" sz="1250" dirty="0">
                <a:solidFill>
                  <a:srgbClr val="E8EEF6"/>
                </a:solidFill>
                <a:latin typeface="Arial" pitchFamily="34" charset="0"/>
                <a:ea typeface="Arial" pitchFamily="34" charset="-122"/>
                <a:cs typeface="Arial" pitchFamily="34" charset="-120"/>
              </a:rPr>
              <a:t>‏GPU / WebGL</a:t>
            </a:r>
            <a:endParaRPr lang="en-US" sz="1250" dirty="0"/>
          </a:p>
        </p:txBody>
      </p:sp>
      <p:sp>
        <p:nvSpPr>
          <p:cNvPr id="15" name="Shape 12"/>
          <p:cNvSpPr/>
          <p:nvPr/>
        </p:nvSpPr>
        <p:spPr>
          <a:xfrm>
            <a:off x="3486607" y="5212080"/>
            <a:ext cx="1243584" cy="502920"/>
          </a:xfrm>
          <a:prstGeom prst="roundRect">
            <a:avLst>
              <a:gd name="adj" fmla="val 49091"/>
            </a:avLst>
          </a:prstGeom>
          <a:solidFill>
            <a:srgbClr val="111B2E"/>
          </a:solidFill>
          <a:ln w="12700">
            <a:solidFill>
              <a:srgbClr val="1CA9DF"/>
            </a:solidFill>
            <a:prstDash val="solid"/>
          </a:ln>
        </p:spPr>
      </p:sp>
      <p:sp>
        <p:nvSpPr>
          <p:cNvPr id="16" name="Text 13"/>
          <p:cNvSpPr/>
          <p:nvPr/>
        </p:nvSpPr>
        <p:spPr>
          <a:xfrm>
            <a:off x="3486607" y="5212080"/>
            <a:ext cx="1243584" cy="502920"/>
          </a:xfrm>
          <a:prstGeom prst="rect">
            <a:avLst/>
          </a:prstGeom>
          <a:noFill/>
          <a:ln/>
        </p:spPr>
        <p:txBody>
          <a:bodyPr wrap="square" lIns="0" tIns="0" rIns="0" bIns="0" rtlCol="0" anchor="ctr"/>
          <a:lstStyle/>
          <a:p>
            <a:pPr rtl="1" algn="ctr" indent="0" marL="0">
              <a:buNone/>
            </a:pPr>
            <a:r>
              <a:rPr lang="en-US" sz="1250" dirty="0">
                <a:solidFill>
                  <a:srgbClr val="E8EEF6"/>
                </a:solidFill>
                <a:latin typeface="Arial" pitchFamily="34" charset="0"/>
                <a:ea typeface="Arial" pitchFamily="34" charset="-122"/>
                <a:cs typeface="Arial" pitchFamily="34" charset="-120"/>
              </a:rPr>
              <a:t>عربي RTL</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502920"/>
            <a:ext cx="11064240" cy="365760"/>
          </a:xfrm>
          <a:prstGeom prst="rect">
            <a:avLst/>
          </a:prstGeom>
          <a:noFill/>
          <a:ln/>
        </p:spPr>
        <p:txBody>
          <a:bodyPr wrap="square" lIns="0" tIns="0" rIns="0" bIns="0" rtlCol="0" anchor="ctr"/>
          <a:lstStyle/>
          <a:p>
            <a:pPr rtl="1" algn="r" indent="0" marL="0">
              <a:buNone/>
            </a:pPr>
            <a:r>
              <a:rPr lang="en-US" sz="1400" b="1" spc="200" kern="0" dirty="0">
                <a:solidFill>
                  <a:srgbClr val="1CA9DF"/>
                </a:solidFill>
                <a:latin typeface="Arial" pitchFamily="34" charset="0"/>
                <a:ea typeface="Arial" pitchFamily="34" charset="-122"/>
                <a:cs typeface="Arial" pitchFamily="34" charset="-120"/>
              </a:rPr>
              <a:t>نظرة عامة</a:t>
            </a:r>
            <a:endParaRPr lang="en-US" sz="1400" dirty="0"/>
          </a:p>
        </p:txBody>
      </p:sp>
      <p:sp>
        <p:nvSpPr>
          <p:cNvPr id="3" name="Text 1"/>
          <p:cNvSpPr/>
          <p:nvPr/>
        </p:nvSpPr>
        <p:spPr>
          <a:xfrm>
            <a:off x="548640" y="868680"/>
            <a:ext cx="11064240" cy="822960"/>
          </a:xfrm>
          <a:prstGeom prst="rect">
            <a:avLst/>
          </a:prstGeom>
          <a:noFill/>
          <a:ln/>
        </p:spPr>
        <p:txBody>
          <a:bodyPr wrap="square" lIns="0" tIns="0" rIns="0" bIns="0" rtlCol="0" anchor="ctr"/>
          <a:lstStyle/>
          <a:p>
            <a:pPr rtl="1" algn="r" indent="0" marL="0">
              <a:buNone/>
            </a:pPr>
            <a:r>
              <a:rPr lang="en-US" sz="3400" b="1" dirty="0">
                <a:solidFill>
                  <a:srgbClr val="E8EEF6"/>
                </a:solidFill>
                <a:latin typeface="Cambria" pitchFamily="34" charset="0"/>
                <a:ea typeface="Cambria" pitchFamily="34" charset="-122"/>
                <a:cs typeface="Cambria" pitchFamily="34" charset="-120"/>
              </a:rPr>
              <a:t>ما هو Sky Radar؟</a:t>
            </a:r>
            <a:endParaRPr lang="en-US" sz="3400" dirty="0"/>
          </a:p>
        </p:txBody>
      </p:sp>
      <p:sp>
        <p:nvSpPr>
          <p:cNvPr id="4" name="Text 2"/>
          <p:cNvSpPr/>
          <p:nvPr/>
        </p:nvSpPr>
        <p:spPr>
          <a:xfrm>
            <a:off x="6126480" y="1828800"/>
            <a:ext cx="5577840" cy="2194560"/>
          </a:xfrm>
          <a:prstGeom prst="rect">
            <a:avLst/>
          </a:prstGeom>
          <a:noFill/>
          <a:ln/>
        </p:spPr>
        <p:txBody>
          <a:bodyPr wrap="square" lIns="0" tIns="0" rIns="0" bIns="0" rtlCol="0" anchor="t"/>
          <a:lstStyle/>
          <a:p>
            <a:pPr rtl="1" algn="r" indent="0" marL="0">
              <a:lnSpc>
                <a:spcPct val="130000"/>
              </a:lnSpc>
              <a:buNone/>
            </a:pPr>
            <a:r>
              <a:rPr lang="en-US" sz="1700" dirty="0">
                <a:solidFill>
                  <a:srgbClr val="9DB0C7"/>
                </a:solidFill>
                <a:latin typeface="Arial" pitchFamily="34" charset="0"/>
                <a:ea typeface="Arial" pitchFamily="34" charset="-122"/>
                <a:cs typeface="Arial" pitchFamily="34" charset="-120"/>
              </a:rPr>
              <a:t>منصّة طقس تفاعلية متكاملة تعرض بيانات الطقس العالمية فوق خريطة داكنة أنيقة، مع جسيمات رياح متحركة بأسلوب سينمائي وشريط زمني للتنقّل بين ساعات التوقّعات. الواجهة عربية بالكامل (RTL) وتركّز على المنطقة العربية.</a:t>
            </a:r>
            <a:endParaRPr lang="en-US" sz="1700" dirty="0"/>
          </a:p>
        </p:txBody>
      </p:sp>
      <p:sp>
        <p:nvSpPr>
          <p:cNvPr id="5" name="Shape 3"/>
          <p:cNvSpPr/>
          <p:nvPr/>
        </p:nvSpPr>
        <p:spPr>
          <a:xfrm>
            <a:off x="548640" y="1783080"/>
            <a:ext cx="5394960" cy="932688"/>
          </a:xfrm>
          <a:prstGeom prst="roundRect">
            <a:avLst>
              <a:gd name="adj" fmla="val 8824"/>
            </a:avLst>
          </a:prstGeom>
          <a:solidFill>
            <a:srgbClr val="111B2E"/>
          </a:solidFill>
          <a:ln w="12700">
            <a:solidFill>
              <a:srgbClr val="243349"/>
            </a:solidFill>
            <a:prstDash val="solid"/>
          </a:ln>
          <a:effectLst>
            <a:outerShdw sx="100000" sy="100000" kx="0" ky="0" algn="bl" rotWithShape="0" blurRad="114300" dist="38100" dir="5400000">
              <a:srgbClr val="000000">
                <a:alpha val="28000"/>
              </a:srgbClr>
            </a:outerShdw>
          </a:effectLst>
        </p:spPr>
      </p:sp>
      <p:sp>
        <p:nvSpPr>
          <p:cNvPr id="6" name="Shape 4"/>
          <p:cNvSpPr/>
          <p:nvPr/>
        </p:nvSpPr>
        <p:spPr>
          <a:xfrm>
            <a:off x="5074920" y="2020824"/>
            <a:ext cx="457200" cy="457200"/>
          </a:xfrm>
          <a:prstGeom prst="ellipse">
            <a:avLst/>
          </a:prstGeom>
          <a:solidFill>
            <a:srgbClr val="2B3A8C"/>
          </a:solidFill>
          <a:ln/>
        </p:spPr>
      </p:sp>
      <p:pic>
        <p:nvPicPr>
          <p:cNvPr id="7" name="Image 0" descr="preencoded.png">    </p:cNvPr>
          <p:cNvPicPr>
            <a:picLocks noChangeAspect="1"/>
          </p:cNvPicPr>
          <p:nvPr/>
        </p:nvPicPr>
        <p:blipFill>
          <a:blip r:embed="rId1"/>
          <a:stretch>
            <a:fillRect/>
          </a:stretch>
        </p:blipFill>
        <p:spPr>
          <a:xfrm>
            <a:off x="5157216" y="2103120"/>
            <a:ext cx="292608" cy="292608"/>
          </a:xfrm>
          <a:prstGeom prst="rect">
            <a:avLst/>
          </a:prstGeom>
        </p:spPr>
      </p:pic>
      <p:sp>
        <p:nvSpPr>
          <p:cNvPr id="8" name="Text 5"/>
          <p:cNvSpPr/>
          <p:nvPr/>
        </p:nvSpPr>
        <p:spPr>
          <a:xfrm>
            <a:off x="777240" y="1911096"/>
            <a:ext cx="4114800" cy="365760"/>
          </a:xfrm>
          <a:prstGeom prst="rect">
            <a:avLst/>
          </a:prstGeom>
          <a:noFill/>
          <a:ln/>
        </p:spPr>
        <p:txBody>
          <a:bodyPr wrap="square" lIns="0" tIns="0" rIns="0" bIns="0" rtlCol="0" anchor="ctr"/>
          <a:lstStyle/>
          <a:p>
            <a:pPr rtl="1" algn="r" indent="0" marL="0">
              <a:buNone/>
            </a:pPr>
            <a:r>
              <a:rPr lang="en-US" sz="1600" b="1" dirty="0">
                <a:solidFill>
                  <a:srgbClr val="E8EEF6"/>
                </a:solidFill>
                <a:latin typeface="Arial" pitchFamily="34" charset="0"/>
                <a:ea typeface="Arial" pitchFamily="34" charset="-122"/>
                <a:cs typeface="Arial" pitchFamily="34" charset="-120"/>
              </a:rPr>
              <a:t>خريطة عالمية تفاعلية</a:t>
            </a:r>
            <a:endParaRPr lang="en-US" sz="1600" dirty="0"/>
          </a:p>
        </p:txBody>
      </p:sp>
      <p:sp>
        <p:nvSpPr>
          <p:cNvPr id="9" name="Text 6"/>
          <p:cNvSpPr/>
          <p:nvPr/>
        </p:nvSpPr>
        <p:spPr>
          <a:xfrm>
            <a:off x="777240" y="2276856"/>
            <a:ext cx="4114800" cy="320040"/>
          </a:xfrm>
          <a:prstGeom prst="rect">
            <a:avLst/>
          </a:prstGeom>
          <a:noFill/>
          <a:ln/>
        </p:spPr>
        <p:txBody>
          <a:bodyPr wrap="square" lIns="0" tIns="0" rIns="0" bIns="0" rtlCol="0" anchor="ctr"/>
          <a:lstStyle/>
          <a:p>
            <a:pPr rtl="1" algn="r" indent="0" marL="0">
              <a:buNone/>
            </a:pPr>
            <a:r>
              <a:rPr lang="en-US" sz="1250" dirty="0">
                <a:solidFill>
                  <a:srgbClr val="9DB0C7"/>
                </a:solidFill>
                <a:latin typeface="Arial" pitchFamily="34" charset="0"/>
                <a:ea typeface="Arial" pitchFamily="34" charset="-122"/>
                <a:cs typeface="Arial" pitchFamily="34" charset="-120"/>
              </a:rPr>
              <a:t>تركّز على المنطقة العربية</a:t>
            </a:r>
            <a:endParaRPr lang="en-US" sz="1250" dirty="0"/>
          </a:p>
        </p:txBody>
      </p:sp>
      <p:sp>
        <p:nvSpPr>
          <p:cNvPr id="10" name="Shape 7"/>
          <p:cNvSpPr/>
          <p:nvPr/>
        </p:nvSpPr>
        <p:spPr>
          <a:xfrm>
            <a:off x="548640" y="2862072"/>
            <a:ext cx="5394960" cy="932688"/>
          </a:xfrm>
          <a:prstGeom prst="roundRect">
            <a:avLst>
              <a:gd name="adj" fmla="val 8824"/>
            </a:avLst>
          </a:prstGeom>
          <a:solidFill>
            <a:srgbClr val="111B2E"/>
          </a:solidFill>
          <a:ln w="12700">
            <a:solidFill>
              <a:srgbClr val="243349"/>
            </a:solidFill>
            <a:prstDash val="solid"/>
          </a:ln>
          <a:effectLst>
            <a:outerShdw sx="100000" sy="100000" kx="0" ky="0" algn="bl" rotWithShape="0" blurRad="114300" dist="38100" dir="5400000">
              <a:srgbClr val="000000">
                <a:alpha val="28000"/>
              </a:srgbClr>
            </a:outerShdw>
          </a:effectLst>
        </p:spPr>
      </p:sp>
      <p:sp>
        <p:nvSpPr>
          <p:cNvPr id="11" name="Shape 8"/>
          <p:cNvSpPr/>
          <p:nvPr/>
        </p:nvSpPr>
        <p:spPr>
          <a:xfrm>
            <a:off x="5074920" y="3099816"/>
            <a:ext cx="457200" cy="457200"/>
          </a:xfrm>
          <a:prstGeom prst="ellipse">
            <a:avLst/>
          </a:prstGeom>
          <a:solidFill>
            <a:srgbClr val="2B3A8C"/>
          </a:solidFill>
          <a:ln/>
        </p:spPr>
      </p:sp>
      <p:pic>
        <p:nvPicPr>
          <p:cNvPr id="12" name="Image 1" descr="preencoded.png">    </p:cNvPr>
          <p:cNvPicPr>
            <a:picLocks noChangeAspect="1"/>
          </p:cNvPicPr>
          <p:nvPr/>
        </p:nvPicPr>
        <p:blipFill>
          <a:blip r:embed="rId2"/>
          <a:stretch>
            <a:fillRect/>
          </a:stretch>
        </p:blipFill>
        <p:spPr>
          <a:xfrm>
            <a:off x="5157216" y="3182112"/>
            <a:ext cx="292608" cy="292608"/>
          </a:xfrm>
          <a:prstGeom prst="rect">
            <a:avLst/>
          </a:prstGeom>
        </p:spPr>
      </p:pic>
      <p:sp>
        <p:nvSpPr>
          <p:cNvPr id="13" name="Text 9"/>
          <p:cNvSpPr/>
          <p:nvPr/>
        </p:nvSpPr>
        <p:spPr>
          <a:xfrm>
            <a:off x="777240" y="2990088"/>
            <a:ext cx="4114800" cy="365760"/>
          </a:xfrm>
          <a:prstGeom prst="rect">
            <a:avLst/>
          </a:prstGeom>
          <a:noFill/>
          <a:ln/>
        </p:spPr>
        <p:txBody>
          <a:bodyPr wrap="square" lIns="0" tIns="0" rIns="0" bIns="0" rtlCol="0" anchor="ctr"/>
          <a:lstStyle/>
          <a:p>
            <a:pPr rtl="1" algn="r" indent="0" marL="0">
              <a:buNone/>
            </a:pPr>
            <a:r>
              <a:rPr lang="en-US" sz="1600" b="1" dirty="0">
                <a:solidFill>
                  <a:srgbClr val="E8EEF6"/>
                </a:solidFill>
                <a:latin typeface="Arial" pitchFamily="34" charset="0"/>
                <a:ea typeface="Arial" pitchFamily="34" charset="-122"/>
                <a:cs typeface="Arial" pitchFamily="34" charset="-120"/>
              </a:rPr>
              <a:t>جسيمات رياح متحركة</a:t>
            </a:r>
            <a:endParaRPr lang="en-US" sz="1600" dirty="0"/>
          </a:p>
        </p:txBody>
      </p:sp>
      <p:sp>
        <p:nvSpPr>
          <p:cNvPr id="14" name="Text 10"/>
          <p:cNvSpPr/>
          <p:nvPr/>
        </p:nvSpPr>
        <p:spPr>
          <a:xfrm>
            <a:off x="777240" y="3355848"/>
            <a:ext cx="4114800" cy="320040"/>
          </a:xfrm>
          <a:prstGeom prst="rect">
            <a:avLst/>
          </a:prstGeom>
          <a:noFill/>
          <a:ln/>
        </p:spPr>
        <p:txBody>
          <a:bodyPr wrap="square" lIns="0" tIns="0" rIns="0" bIns="0" rtlCol="0" anchor="ctr"/>
          <a:lstStyle/>
          <a:p>
            <a:pPr rtl="1" algn="r" indent="0" marL="0">
              <a:buNone/>
            </a:pPr>
            <a:r>
              <a:rPr lang="en-US" sz="1250" dirty="0">
                <a:solidFill>
                  <a:srgbClr val="9DB0C7"/>
                </a:solidFill>
                <a:latin typeface="Arial" pitchFamily="34" charset="0"/>
                <a:ea typeface="Arial" pitchFamily="34" charset="-122"/>
                <a:cs typeface="Arial" pitchFamily="34" charset="-120"/>
              </a:rPr>
              <a:t>محرّك WebGL على معالج الرسوميات</a:t>
            </a:r>
            <a:endParaRPr lang="en-US" sz="1250" dirty="0"/>
          </a:p>
        </p:txBody>
      </p:sp>
      <p:sp>
        <p:nvSpPr>
          <p:cNvPr id="15" name="Shape 11"/>
          <p:cNvSpPr/>
          <p:nvPr/>
        </p:nvSpPr>
        <p:spPr>
          <a:xfrm>
            <a:off x="548640" y="3941064"/>
            <a:ext cx="5394960" cy="932688"/>
          </a:xfrm>
          <a:prstGeom prst="roundRect">
            <a:avLst>
              <a:gd name="adj" fmla="val 8824"/>
            </a:avLst>
          </a:prstGeom>
          <a:solidFill>
            <a:srgbClr val="111B2E"/>
          </a:solidFill>
          <a:ln w="12700">
            <a:solidFill>
              <a:srgbClr val="243349"/>
            </a:solidFill>
            <a:prstDash val="solid"/>
          </a:ln>
          <a:effectLst>
            <a:outerShdw sx="100000" sy="100000" kx="0" ky="0" algn="bl" rotWithShape="0" blurRad="114300" dist="38100" dir="5400000">
              <a:srgbClr val="000000">
                <a:alpha val="28000"/>
              </a:srgbClr>
            </a:outerShdw>
          </a:effectLst>
        </p:spPr>
      </p:sp>
      <p:sp>
        <p:nvSpPr>
          <p:cNvPr id="16" name="Shape 12"/>
          <p:cNvSpPr/>
          <p:nvPr/>
        </p:nvSpPr>
        <p:spPr>
          <a:xfrm>
            <a:off x="5074920" y="4178808"/>
            <a:ext cx="457200" cy="457200"/>
          </a:xfrm>
          <a:prstGeom prst="ellipse">
            <a:avLst/>
          </a:prstGeom>
          <a:solidFill>
            <a:srgbClr val="2B3A8C"/>
          </a:solidFill>
          <a:ln/>
        </p:spPr>
      </p:sp>
      <p:pic>
        <p:nvPicPr>
          <p:cNvPr id="17" name="Image 2" descr="preencoded.png">    </p:cNvPr>
          <p:cNvPicPr>
            <a:picLocks noChangeAspect="1"/>
          </p:cNvPicPr>
          <p:nvPr/>
        </p:nvPicPr>
        <p:blipFill>
          <a:blip r:embed="rId3"/>
          <a:stretch>
            <a:fillRect/>
          </a:stretch>
        </p:blipFill>
        <p:spPr>
          <a:xfrm>
            <a:off x="5157216" y="4261104"/>
            <a:ext cx="292608" cy="292608"/>
          </a:xfrm>
          <a:prstGeom prst="rect">
            <a:avLst/>
          </a:prstGeom>
        </p:spPr>
      </p:pic>
      <p:sp>
        <p:nvSpPr>
          <p:cNvPr id="18" name="Text 13"/>
          <p:cNvSpPr/>
          <p:nvPr/>
        </p:nvSpPr>
        <p:spPr>
          <a:xfrm>
            <a:off x="777240" y="4069080"/>
            <a:ext cx="4114800" cy="365760"/>
          </a:xfrm>
          <a:prstGeom prst="rect">
            <a:avLst/>
          </a:prstGeom>
          <a:noFill/>
          <a:ln/>
        </p:spPr>
        <p:txBody>
          <a:bodyPr wrap="square" lIns="0" tIns="0" rIns="0" bIns="0" rtlCol="0" anchor="ctr"/>
          <a:lstStyle/>
          <a:p>
            <a:pPr rtl="1" algn="r" indent="0" marL="0">
              <a:buNone/>
            </a:pPr>
            <a:r>
              <a:rPr lang="en-US" sz="1600" b="1" dirty="0">
                <a:solidFill>
                  <a:srgbClr val="E8EEF6"/>
                </a:solidFill>
                <a:latin typeface="Arial" pitchFamily="34" charset="0"/>
                <a:ea typeface="Arial" pitchFamily="34" charset="-122"/>
                <a:cs typeface="Arial" pitchFamily="34" charset="-120"/>
              </a:rPr>
              <a:t>شريط زمني</a:t>
            </a:r>
            <a:endParaRPr lang="en-US" sz="1600" dirty="0"/>
          </a:p>
        </p:txBody>
      </p:sp>
      <p:sp>
        <p:nvSpPr>
          <p:cNvPr id="19" name="Text 14"/>
          <p:cNvSpPr/>
          <p:nvPr/>
        </p:nvSpPr>
        <p:spPr>
          <a:xfrm>
            <a:off x="777240" y="4434840"/>
            <a:ext cx="4114800" cy="320040"/>
          </a:xfrm>
          <a:prstGeom prst="rect">
            <a:avLst/>
          </a:prstGeom>
          <a:noFill/>
          <a:ln/>
        </p:spPr>
        <p:txBody>
          <a:bodyPr wrap="square" lIns="0" tIns="0" rIns="0" bIns="0" rtlCol="0" anchor="ctr"/>
          <a:lstStyle/>
          <a:p>
            <a:pPr rtl="1" algn="r" indent="0" marL="0">
              <a:buNone/>
            </a:pPr>
            <a:r>
              <a:rPr lang="en-US" sz="1250" dirty="0">
                <a:solidFill>
                  <a:srgbClr val="9DB0C7"/>
                </a:solidFill>
                <a:latin typeface="Arial" pitchFamily="34" charset="0"/>
                <a:ea typeface="Arial" pitchFamily="34" charset="-122"/>
                <a:cs typeface="Arial" pitchFamily="34" charset="-120"/>
              </a:rPr>
              <a:t>ماضٍ مرصود + مستقبل متوقّع</a:t>
            </a:r>
            <a:endParaRPr lang="en-US" sz="1250" dirty="0"/>
          </a:p>
        </p:txBody>
      </p:sp>
      <p:sp>
        <p:nvSpPr>
          <p:cNvPr id="20" name="Shape 15"/>
          <p:cNvSpPr/>
          <p:nvPr/>
        </p:nvSpPr>
        <p:spPr>
          <a:xfrm>
            <a:off x="548640" y="5020056"/>
            <a:ext cx="5394960" cy="932688"/>
          </a:xfrm>
          <a:prstGeom prst="roundRect">
            <a:avLst>
              <a:gd name="adj" fmla="val 8824"/>
            </a:avLst>
          </a:prstGeom>
          <a:solidFill>
            <a:srgbClr val="111B2E"/>
          </a:solidFill>
          <a:ln w="12700">
            <a:solidFill>
              <a:srgbClr val="243349"/>
            </a:solidFill>
            <a:prstDash val="solid"/>
          </a:ln>
          <a:effectLst>
            <a:outerShdw sx="100000" sy="100000" kx="0" ky="0" algn="bl" rotWithShape="0" blurRad="114300" dist="38100" dir="5400000">
              <a:srgbClr val="000000">
                <a:alpha val="28000"/>
              </a:srgbClr>
            </a:outerShdw>
          </a:effectLst>
        </p:spPr>
      </p:sp>
      <p:sp>
        <p:nvSpPr>
          <p:cNvPr id="21" name="Shape 16"/>
          <p:cNvSpPr/>
          <p:nvPr/>
        </p:nvSpPr>
        <p:spPr>
          <a:xfrm>
            <a:off x="5074920" y="5257800"/>
            <a:ext cx="457200" cy="457200"/>
          </a:xfrm>
          <a:prstGeom prst="ellipse">
            <a:avLst/>
          </a:prstGeom>
          <a:solidFill>
            <a:srgbClr val="2B3A8C"/>
          </a:solidFill>
          <a:ln/>
        </p:spPr>
      </p:sp>
      <p:pic>
        <p:nvPicPr>
          <p:cNvPr id="22" name="Image 3" descr="preencoded.png">    </p:cNvPr>
          <p:cNvPicPr>
            <a:picLocks noChangeAspect="1"/>
          </p:cNvPicPr>
          <p:nvPr/>
        </p:nvPicPr>
        <p:blipFill>
          <a:blip r:embed="rId4"/>
          <a:stretch>
            <a:fillRect/>
          </a:stretch>
        </p:blipFill>
        <p:spPr>
          <a:xfrm>
            <a:off x="5157216" y="5340096"/>
            <a:ext cx="292608" cy="292608"/>
          </a:xfrm>
          <a:prstGeom prst="rect">
            <a:avLst/>
          </a:prstGeom>
        </p:spPr>
      </p:pic>
      <p:sp>
        <p:nvSpPr>
          <p:cNvPr id="23" name="Text 17"/>
          <p:cNvSpPr/>
          <p:nvPr/>
        </p:nvSpPr>
        <p:spPr>
          <a:xfrm>
            <a:off x="777240" y="5148072"/>
            <a:ext cx="4114800" cy="365760"/>
          </a:xfrm>
          <a:prstGeom prst="rect">
            <a:avLst/>
          </a:prstGeom>
          <a:noFill/>
          <a:ln/>
        </p:spPr>
        <p:txBody>
          <a:bodyPr wrap="square" lIns="0" tIns="0" rIns="0" bIns="0" rtlCol="0" anchor="ctr"/>
          <a:lstStyle/>
          <a:p>
            <a:pPr rtl="1" algn="r" indent="0" marL="0">
              <a:buNone/>
            </a:pPr>
            <a:r>
              <a:rPr lang="en-US" sz="1600" b="1" dirty="0">
                <a:solidFill>
                  <a:srgbClr val="E8EEF6"/>
                </a:solidFill>
                <a:latin typeface="Arial" pitchFamily="34" charset="0"/>
                <a:ea typeface="Arial" pitchFamily="34" charset="-122"/>
                <a:cs typeface="Arial" pitchFamily="34" charset="-120"/>
              </a:rPr>
              <a:t>واجهة عربية كاملة</a:t>
            </a:r>
            <a:endParaRPr lang="en-US" sz="1600" dirty="0"/>
          </a:p>
        </p:txBody>
      </p:sp>
      <p:sp>
        <p:nvSpPr>
          <p:cNvPr id="24" name="Text 18"/>
          <p:cNvSpPr/>
          <p:nvPr/>
        </p:nvSpPr>
        <p:spPr>
          <a:xfrm>
            <a:off x="777240" y="5513832"/>
            <a:ext cx="4114800" cy="320040"/>
          </a:xfrm>
          <a:prstGeom prst="rect">
            <a:avLst/>
          </a:prstGeom>
          <a:noFill/>
          <a:ln/>
        </p:spPr>
        <p:txBody>
          <a:bodyPr wrap="square" lIns="0" tIns="0" rIns="0" bIns="0" rtlCol="0" anchor="ctr"/>
          <a:lstStyle/>
          <a:p>
            <a:pPr rtl="1" algn="r" indent="0" marL="0">
              <a:buNone/>
            </a:pPr>
            <a:r>
              <a:rPr lang="en-US" sz="1250" dirty="0">
                <a:solidFill>
                  <a:srgbClr val="9DB0C7"/>
                </a:solidFill>
                <a:latin typeface="Arial" pitchFamily="34" charset="0"/>
                <a:ea typeface="Arial" pitchFamily="34" charset="-122"/>
                <a:cs typeface="Arial" pitchFamily="34" charset="-120"/>
              </a:rPr>
              <a:t>تصميم داكن واتجاه RTL</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502920"/>
            <a:ext cx="11064240" cy="365760"/>
          </a:xfrm>
          <a:prstGeom prst="rect">
            <a:avLst/>
          </a:prstGeom>
          <a:noFill/>
          <a:ln/>
        </p:spPr>
        <p:txBody>
          <a:bodyPr wrap="square" lIns="0" tIns="0" rIns="0" bIns="0" rtlCol="0" anchor="ctr"/>
          <a:lstStyle/>
          <a:p>
            <a:pPr rtl="1" algn="r" indent="0" marL="0">
              <a:buNone/>
            </a:pPr>
            <a:r>
              <a:rPr lang="en-US" sz="1400" b="1" spc="200" kern="0" dirty="0">
                <a:solidFill>
                  <a:srgbClr val="1CA9DF"/>
                </a:solidFill>
                <a:latin typeface="Arial" pitchFamily="34" charset="0"/>
                <a:ea typeface="Arial" pitchFamily="34" charset="-122"/>
                <a:cs typeface="Arial" pitchFamily="34" charset="-120"/>
              </a:rPr>
              <a:t>البيانات</a:t>
            </a:r>
            <a:endParaRPr lang="en-US" sz="1400" dirty="0"/>
          </a:p>
        </p:txBody>
      </p:sp>
      <p:sp>
        <p:nvSpPr>
          <p:cNvPr id="3" name="Text 1"/>
          <p:cNvSpPr/>
          <p:nvPr/>
        </p:nvSpPr>
        <p:spPr>
          <a:xfrm>
            <a:off x="548640" y="868680"/>
            <a:ext cx="11064240" cy="822960"/>
          </a:xfrm>
          <a:prstGeom prst="rect">
            <a:avLst/>
          </a:prstGeom>
          <a:noFill/>
          <a:ln/>
        </p:spPr>
        <p:txBody>
          <a:bodyPr wrap="square" lIns="0" tIns="0" rIns="0" bIns="0" rtlCol="0" anchor="ctr"/>
          <a:lstStyle/>
          <a:p>
            <a:pPr rtl="1" algn="r" indent="0" marL="0">
              <a:buNone/>
            </a:pPr>
            <a:r>
              <a:rPr lang="en-US" sz="3400" b="1" dirty="0">
                <a:solidFill>
                  <a:srgbClr val="E8EEF6"/>
                </a:solidFill>
                <a:latin typeface="Cambria" pitchFamily="34" charset="0"/>
                <a:ea typeface="Cambria" pitchFamily="34" charset="-122"/>
                <a:cs typeface="Cambria" pitchFamily="34" charset="-120"/>
              </a:rPr>
              <a:t>‏13 طبقة طقس في منصّة واحدة</a:t>
            </a:r>
            <a:endParaRPr lang="en-US" sz="3400" dirty="0"/>
          </a:p>
        </p:txBody>
      </p:sp>
      <p:sp>
        <p:nvSpPr>
          <p:cNvPr id="4" name="Shape 2"/>
          <p:cNvSpPr/>
          <p:nvPr/>
        </p:nvSpPr>
        <p:spPr>
          <a:xfrm>
            <a:off x="9012784" y="1828800"/>
            <a:ext cx="2670048" cy="1078992"/>
          </a:xfrm>
          <a:prstGeom prst="roundRect">
            <a:avLst>
              <a:gd name="adj" fmla="val 7627"/>
            </a:avLst>
          </a:prstGeom>
          <a:solidFill>
            <a:srgbClr val="111B2E"/>
          </a:solidFill>
          <a:ln w="12700">
            <a:solidFill>
              <a:srgbClr val="243349"/>
            </a:solidFill>
            <a:prstDash val="solid"/>
          </a:ln>
          <a:effectLst>
            <a:outerShdw sx="100000" sy="100000" kx="0" ky="0" algn="bl" rotWithShape="0" blurRad="114300" dist="38100" dir="5400000">
              <a:srgbClr val="000000">
                <a:alpha val="28000"/>
              </a:srgbClr>
            </a:outerShdw>
          </a:effectLst>
        </p:spPr>
      </p:sp>
      <p:sp>
        <p:nvSpPr>
          <p:cNvPr id="5" name="Shape 3"/>
          <p:cNvSpPr/>
          <p:nvPr/>
        </p:nvSpPr>
        <p:spPr>
          <a:xfrm>
            <a:off x="10814152" y="2084832"/>
            <a:ext cx="566928" cy="566928"/>
          </a:xfrm>
          <a:prstGeom prst="ellipse">
            <a:avLst/>
          </a:prstGeom>
          <a:solidFill>
            <a:srgbClr val="0B1220"/>
          </a:solidFill>
          <a:ln w="12700">
            <a:solidFill>
              <a:srgbClr val="1CA9DF"/>
            </a:solidFill>
            <a:prstDash val="solid"/>
          </a:ln>
        </p:spPr>
      </p:sp>
      <p:pic>
        <p:nvPicPr>
          <p:cNvPr id="6" name="Image 0" descr="preencoded.png">    </p:cNvPr>
          <p:cNvPicPr>
            <a:picLocks noChangeAspect="1"/>
          </p:cNvPicPr>
          <p:nvPr/>
        </p:nvPicPr>
        <p:blipFill>
          <a:blip r:embed="rId1"/>
          <a:stretch>
            <a:fillRect/>
          </a:stretch>
        </p:blipFill>
        <p:spPr>
          <a:xfrm>
            <a:off x="10923880" y="2194560"/>
            <a:ext cx="347472" cy="347472"/>
          </a:xfrm>
          <a:prstGeom prst="rect">
            <a:avLst/>
          </a:prstGeom>
        </p:spPr>
      </p:pic>
      <p:sp>
        <p:nvSpPr>
          <p:cNvPr id="7" name="Text 4"/>
          <p:cNvSpPr/>
          <p:nvPr/>
        </p:nvSpPr>
        <p:spPr>
          <a:xfrm>
            <a:off x="9149944" y="2121408"/>
            <a:ext cx="1709928" cy="502920"/>
          </a:xfrm>
          <a:prstGeom prst="rect">
            <a:avLst/>
          </a:prstGeom>
          <a:noFill/>
          <a:ln/>
        </p:spPr>
        <p:txBody>
          <a:bodyPr wrap="square" lIns="0" tIns="0" rIns="0" bIns="0" rtlCol="0" anchor="ctr"/>
          <a:lstStyle/>
          <a:p>
            <a:pPr rtl="1" algn="r" indent="0" marL="0">
              <a:buNone/>
            </a:pPr>
            <a:r>
              <a:rPr lang="en-US" sz="1450" b="1" dirty="0">
                <a:solidFill>
                  <a:srgbClr val="E8EEF6"/>
                </a:solidFill>
                <a:latin typeface="Arial" pitchFamily="34" charset="0"/>
                <a:ea typeface="Arial" pitchFamily="34" charset="-122"/>
                <a:cs typeface="Arial" pitchFamily="34" charset="-120"/>
              </a:rPr>
              <a:t>الرياح</a:t>
            </a:r>
            <a:endParaRPr lang="en-US" sz="1450" dirty="0"/>
          </a:p>
        </p:txBody>
      </p:sp>
      <p:sp>
        <p:nvSpPr>
          <p:cNvPr id="8" name="Shape 5"/>
          <p:cNvSpPr/>
          <p:nvPr/>
        </p:nvSpPr>
        <p:spPr>
          <a:xfrm>
            <a:off x="6178144" y="1828800"/>
            <a:ext cx="2670048" cy="1078992"/>
          </a:xfrm>
          <a:prstGeom prst="roundRect">
            <a:avLst>
              <a:gd name="adj" fmla="val 7627"/>
            </a:avLst>
          </a:prstGeom>
          <a:solidFill>
            <a:srgbClr val="111B2E"/>
          </a:solidFill>
          <a:ln w="12700">
            <a:solidFill>
              <a:srgbClr val="243349"/>
            </a:solidFill>
            <a:prstDash val="solid"/>
          </a:ln>
          <a:effectLst>
            <a:outerShdw sx="100000" sy="100000" kx="0" ky="0" algn="bl" rotWithShape="0" blurRad="114300" dist="38100" dir="5400000">
              <a:srgbClr val="000000">
                <a:alpha val="28000"/>
              </a:srgbClr>
            </a:outerShdw>
          </a:effectLst>
        </p:spPr>
      </p:sp>
      <p:sp>
        <p:nvSpPr>
          <p:cNvPr id="9" name="Shape 6"/>
          <p:cNvSpPr/>
          <p:nvPr/>
        </p:nvSpPr>
        <p:spPr>
          <a:xfrm>
            <a:off x="7979512" y="2084832"/>
            <a:ext cx="566928" cy="566928"/>
          </a:xfrm>
          <a:prstGeom prst="ellipse">
            <a:avLst/>
          </a:prstGeom>
          <a:solidFill>
            <a:srgbClr val="0B1220"/>
          </a:solidFill>
          <a:ln w="12700">
            <a:solidFill>
              <a:srgbClr val="1CA9DF"/>
            </a:solidFill>
            <a:prstDash val="solid"/>
          </a:ln>
        </p:spPr>
      </p:sp>
      <p:pic>
        <p:nvPicPr>
          <p:cNvPr id="10" name="Image 1" descr="preencoded.png">    </p:cNvPr>
          <p:cNvPicPr>
            <a:picLocks noChangeAspect="1"/>
          </p:cNvPicPr>
          <p:nvPr/>
        </p:nvPicPr>
        <p:blipFill>
          <a:blip r:embed="rId2"/>
          <a:stretch>
            <a:fillRect/>
          </a:stretch>
        </p:blipFill>
        <p:spPr>
          <a:xfrm>
            <a:off x="8089240" y="2194560"/>
            <a:ext cx="347472" cy="347472"/>
          </a:xfrm>
          <a:prstGeom prst="rect">
            <a:avLst/>
          </a:prstGeom>
        </p:spPr>
      </p:pic>
      <p:sp>
        <p:nvSpPr>
          <p:cNvPr id="11" name="Text 7"/>
          <p:cNvSpPr/>
          <p:nvPr/>
        </p:nvSpPr>
        <p:spPr>
          <a:xfrm>
            <a:off x="6315304" y="2121408"/>
            <a:ext cx="1709928" cy="502920"/>
          </a:xfrm>
          <a:prstGeom prst="rect">
            <a:avLst/>
          </a:prstGeom>
          <a:noFill/>
          <a:ln/>
        </p:spPr>
        <p:txBody>
          <a:bodyPr wrap="square" lIns="0" tIns="0" rIns="0" bIns="0" rtlCol="0" anchor="ctr"/>
          <a:lstStyle/>
          <a:p>
            <a:pPr rtl="1" algn="r" indent="0" marL="0">
              <a:buNone/>
            </a:pPr>
            <a:r>
              <a:rPr lang="en-US" sz="1450" b="1" dirty="0">
                <a:solidFill>
                  <a:srgbClr val="E8EEF6"/>
                </a:solidFill>
                <a:latin typeface="Arial" pitchFamily="34" charset="0"/>
                <a:ea typeface="Arial" pitchFamily="34" charset="-122"/>
                <a:cs typeface="Arial" pitchFamily="34" charset="-120"/>
              </a:rPr>
              <a:t>هبّات الرياح</a:t>
            </a:r>
            <a:endParaRPr lang="en-US" sz="1450" dirty="0"/>
          </a:p>
        </p:txBody>
      </p:sp>
      <p:sp>
        <p:nvSpPr>
          <p:cNvPr id="12" name="Shape 8"/>
          <p:cNvSpPr/>
          <p:nvPr/>
        </p:nvSpPr>
        <p:spPr>
          <a:xfrm>
            <a:off x="3343504" y="1828800"/>
            <a:ext cx="2670048" cy="1078992"/>
          </a:xfrm>
          <a:prstGeom prst="roundRect">
            <a:avLst>
              <a:gd name="adj" fmla="val 7627"/>
            </a:avLst>
          </a:prstGeom>
          <a:solidFill>
            <a:srgbClr val="111B2E"/>
          </a:solidFill>
          <a:ln w="12700">
            <a:solidFill>
              <a:srgbClr val="243349"/>
            </a:solidFill>
            <a:prstDash val="solid"/>
          </a:ln>
          <a:effectLst>
            <a:outerShdw sx="100000" sy="100000" kx="0" ky="0" algn="bl" rotWithShape="0" blurRad="114300" dist="38100" dir="5400000">
              <a:srgbClr val="000000">
                <a:alpha val="28000"/>
              </a:srgbClr>
            </a:outerShdw>
          </a:effectLst>
        </p:spPr>
      </p:sp>
      <p:sp>
        <p:nvSpPr>
          <p:cNvPr id="13" name="Shape 9"/>
          <p:cNvSpPr/>
          <p:nvPr/>
        </p:nvSpPr>
        <p:spPr>
          <a:xfrm>
            <a:off x="5144872" y="2084832"/>
            <a:ext cx="566928" cy="566928"/>
          </a:xfrm>
          <a:prstGeom prst="ellipse">
            <a:avLst/>
          </a:prstGeom>
          <a:solidFill>
            <a:srgbClr val="0B1220"/>
          </a:solidFill>
          <a:ln w="12700">
            <a:solidFill>
              <a:srgbClr val="1CA9DF"/>
            </a:solidFill>
            <a:prstDash val="solid"/>
          </a:ln>
        </p:spPr>
      </p:sp>
      <p:pic>
        <p:nvPicPr>
          <p:cNvPr id="14" name="Image 2" descr="preencoded.png">    </p:cNvPr>
          <p:cNvPicPr>
            <a:picLocks noChangeAspect="1"/>
          </p:cNvPicPr>
          <p:nvPr/>
        </p:nvPicPr>
        <p:blipFill>
          <a:blip r:embed="rId3"/>
          <a:stretch>
            <a:fillRect/>
          </a:stretch>
        </p:blipFill>
        <p:spPr>
          <a:xfrm>
            <a:off x="5254600" y="2194560"/>
            <a:ext cx="347472" cy="347472"/>
          </a:xfrm>
          <a:prstGeom prst="rect">
            <a:avLst/>
          </a:prstGeom>
        </p:spPr>
      </p:pic>
      <p:sp>
        <p:nvSpPr>
          <p:cNvPr id="15" name="Text 10"/>
          <p:cNvSpPr/>
          <p:nvPr/>
        </p:nvSpPr>
        <p:spPr>
          <a:xfrm>
            <a:off x="3480664" y="2121408"/>
            <a:ext cx="1709928" cy="502920"/>
          </a:xfrm>
          <a:prstGeom prst="rect">
            <a:avLst/>
          </a:prstGeom>
          <a:noFill/>
          <a:ln/>
        </p:spPr>
        <p:txBody>
          <a:bodyPr wrap="square" lIns="0" tIns="0" rIns="0" bIns="0" rtlCol="0" anchor="ctr"/>
          <a:lstStyle/>
          <a:p>
            <a:pPr rtl="1" algn="r" indent="0" marL="0">
              <a:buNone/>
            </a:pPr>
            <a:r>
              <a:rPr lang="en-US" sz="1450" b="1" dirty="0">
                <a:solidFill>
                  <a:srgbClr val="E8EEF6"/>
                </a:solidFill>
                <a:latin typeface="Arial" pitchFamily="34" charset="0"/>
                <a:ea typeface="Arial" pitchFamily="34" charset="-122"/>
                <a:cs typeface="Arial" pitchFamily="34" charset="-120"/>
              </a:rPr>
              <a:t>الحرارة</a:t>
            </a:r>
            <a:endParaRPr lang="en-US" sz="1450" dirty="0"/>
          </a:p>
        </p:txBody>
      </p:sp>
      <p:sp>
        <p:nvSpPr>
          <p:cNvPr id="16" name="Shape 11"/>
          <p:cNvSpPr/>
          <p:nvPr/>
        </p:nvSpPr>
        <p:spPr>
          <a:xfrm>
            <a:off x="508864" y="1828800"/>
            <a:ext cx="2670048" cy="1078992"/>
          </a:xfrm>
          <a:prstGeom prst="roundRect">
            <a:avLst>
              <a:gd name="adj" fmla="val 7627"/>
            </a:avLst>
          </a:prstGeom>
          <a:solidFill>
            <a:srgbClr val="111B2E"/>
          </a:solidFill>
          <a:ln w="12700">
            <a:solidFill>
              <a:srgbClr val="243349"/>
            </a:solidFill>
            <a:prstDash val="solid"/>
          </a:ln>
          <a:effectLst>
            <a:outerShdw sx="100000" sy="100000" kx="0" ky="0" algn="bl" rotWithShape="0" blurRad="114300" dist="38100" dir="5400000">
              <a:srgbClr val="000000">
                <a:alpha val="28000"/>
              </a:srgbClr>
            </a:outerShdw>
          </a:effectLst>
        </p:spPr>
      </p:sp>
      <p:sp>
        <p:nvSpPr>
          <p:cNvPr id="17" name="Shape 12"/>
          <p:cNvSpPr/>
          <p:nvPr/>
        </p:nvSpPr>
        <p:spPr>
          <a:xfrm>
            <a:off x="2310232" y="2084832"/>
            <a:ext cx="566928" cy="566928"/>
          </a:xfrm>
          <a:prstGeom prst="ellipse">
            <a:avLst/>
          </a:prstGeom>
          <a:solidFill>
            <a:srgbClr val="0B1220"/>
          </a:solidFill>
          <a:ln w="12700">
            <a:solidFill>
              <a:srgbClr val="1CA9DF"/>
            </a:solidFill>
            <a:prstDash val="solid"/>
          </a:ln>
        </p:spPr>
      </p:sp>
      <p:pic>
        <p:nvPicPr>
          <p:cNvPr id="18" name="Image 3" descr="preencoded.png">    </p:cNvPr>
          <p:cNvPicPr>
            <a:picLocks noChangeAspect="1"/>
          </p:cNvPicPr>
          <p:nvPr/>
        </p:nvPicPr>
        <p:blipFill>
          <a:blip r:embed="rId4"/>
          <a:stretch>
            <a:fillRect/>
          </a:stretch>
        </p:blipFill>
        <p:spPr>
          <a:xfrm>
            <a:off x="2419960" y="2194560"/>
            <a:ext cx="347472" cy="347472"/>
          </a:xfrm>
          <a:prstGeom prst="rect">
            <a:avLst/>
          </a:prstGeom>
        </p:spPr>
      </p:pic>
      <p:sp>
        <p:nvSpPr>
          <p:cNvPr id="19" name="Text 13"/>
          <p:cNvSpPr/>
          <p:nvPr/>
        </p:nvSpPr>
        <p:spPr>
          <a:xfrm>
            <a:off x="646024" y="2121408"/>
            <a:ext cx="1709928" cy="502920"/>
          </a:xfrm>
          <a:prstGeom prst="rect">
            <a:avLst/>
          </a:prstGeom>
          <a:noFill/>
          <a:ln/>
        </p:spPr>
        <p:txBody>
          <a:bodyPr wrap="square" lIns="0" tIns="0" rIns="0" bIns="0" rtlCol="0" anchor="ctr"/>
          <a:lstStyle/>
          <a:p>
            <a:pPr rtl="1" algn="r" indent="0" marL="0">
              <a:buNone/>
            </a:pPr>
            <a:r>
              <a:rPr lang="en-US" sz="1450" b="1" dirty="0">
                <a:solidFill>
                  <a:srgbClr val="E8EEF6"/>
                </a:solidFill>
                <a:latin typeface="Arial" pitchFamily="34" charset="0"/>
                <a:ea typeface="Arial" pitchFamily="34" charset="-122"/>
                <a:cs typeface="Arial" pitchFamily="34" charset="-120"/>
              </a:rPr>
              <a:t>الإحساس الحراري</a:t>
            </a:r>
            <a:endParaRPr lang="en-US" sz="1450" dirty="0"/>
          </a:p>
        </p:txBody>
      </p:sp>
      <p:sp>
        <p:nvSpPr>
          <p:cNvPr id="20" name="Shape 14"/>
          <p:cNvSpPr/>
          <p:nvPr/>
        </p:nvSpPr>
        <p:spPr>
          <a:xfrm>
            <a:off x="9012784" y="3090672"/>
            <a:ext cx="2670048" cy="1078992"/>
          </a:xfrm>
          <a:prstGeom prst="roundRect">
            <a:avLst>
              <a:gd name="adj" fmla="val 7627"/>
            </a:avLst>
          </a:prstGeom>
          <a:solidFill>
            <a:srgbClr val="111B2E"/>
          </a:solidFill>
          <a:ln w="12700">
            <a:solidFill>
              <a:srgbClr val="243349"/>
            </a:solidFill>
            <a:prstDash val="solid"/>
          </a:ln>
          <a:effectLst>
            <a:outerShdw sx="100000" sy="100000" kx="0" ky="0" algn="bl" rotWithShape="0" blurRad="114300" dist="38100" dir="5400000">
              <a:srgbClr val="000000">
                <a:alpha val="28000"/>
              </a:srgbClr>
            </a:outerShdw>
          </a:effectLst>
        </p:spPr>
      </p:sp>
      <p:sp>
        <p:nvSpPr>
          <p:cNvPr id="21" name="Shape 15"/>
          <p:cNvSpPr/>
          <p:nvPr/>
        </p:nvSpPr>
        <p:spPr>
          <a:xfrm>
            <a:off x="10814152" y="3346704"/>
            <a:ext cx="566928" cy="566928"/>
          </a:xfrm>
          <a:prstGeom prst="ellipse">
            <a:avLst/>
          </a:prstGeom>
          <a:solidFill>
            <a:srgbClr val="0B1220"/>
          </a:solidFill>
          <a:ln w="12700">
            <a:solidFill>
              <a:srgbClr val="1CA9DF"/>
            </a:solidFill>
            <a:prstDash val="solid"/>
          </a:ln>
        </p:spPr>
      </p:sp>
      <p:pic>
        <p:nvPicPr>
          <p:cNvPr id="22" name="Image 4" descr="preencoded.png">    </p:cNvPr>
          <p:cNvPicPr>
            <a:picLocks noChangeAspect="1"/>
          </p:cNvPicPr>
          <p:nvPr/>
        </p:nvPicPr>
        <p:blipFill>
          <a:blip r:embed="rId5"/>
          <a:stretch>
            <a:fillRect/>
          </a:stretch>
        </p:blipFill>
        <p:spPr>
          <a:xfrm>
            <a:off x="10923880" y="3456432"/>
            <a:ext cx="347472" cy="347472"/>
          </a:xfrm>
          <a:prstGeom prst="rect">
            <a:avLst/>
          </a:prstGeom>
        </p:spPr>
      </p:pic>
      <p:sp>
        <p:nvSpPr>
          <p:cNvPr id="23" name="Text 16"/>
          <p:cNvSpPr/>
          <p:nvPr/>
        </p:nvSpPr>
        <p:spPr>
          <a:xfrm>
            <a:off x="9149944" y="3383280"/>
            <a:ext cx="1709928" cy="502920"/>
          </a:xfrm>
          <a:prstGeom prst="rect">
            <a:avLst/>
          </a:prstGeom>
          <a:noFill/>
          <a:ln/>
        </p:spPr>
        <p:txBody>
          <a:bodyPr wrap="square" lIns="0" tIns="0" rIns="0" bIns="0" rtlCol="0" anchor="ctr"/>
          <a:lstStyle/>
          <a:p>
            <a:pPr rtl="1" algn="r" indent="0" marL="0">
              <a:buNone/>
            </a:pPr>
            <a:r>
              <a:rPr lang="en-US" sz="1450" b="1" dirty="0">
                <a:solidFill>
                  <a:srgbClr val="E8EEF6"/>
                </a:solidFill>
                <a:latin typeface="Arial" pitchFamily="34" charset="0"/>
                <a:ea typeface="Arial" pitchFamily="34" charset="-122"/>
                <a:cs typeface="Arial" pitchFamily="34" charset="-120"/>
              </a:rPr>
              <a:t>الأمطار</a:t>
            </a:r>
            <a:endParaRPr lang="en-US" sz="1450" dirty="0"/>
          </a:p>
        </p:txBody>
      </p:sp>
      <p:sp>
        <p:nvSpPr>
          <p:cNvPr id="24" name="Shape 17"/>
          <p:cNvSpPr/>
          <p:nvPr/>
        </p:nvSpPr>
        <p:spPr>
          <a:xfrm>
            <a:off x="6178144" y="3090672"/>
            <a:ext cx="2670048" cy="1078992"/>
          </a:xfrm>
          <a:prstGeom prst="roundRect">
            <a:avLst>
              <a:gd name="adj" fmla="val 7627"/>
            </a:avLst>
          </a:prstGeom>
          <a:solidFill>
            <a:srgbClr val="111B2E"/>
          </a:solidFill>
          <a:ln w="12700">
            <a:solidFill>
              <a:srgbClr val="243349"/>
            </a:solidFill>
            <a:prstDash val="solid"/>
          </a:ln>
          <a:effectLst>
            <a:outerShdw sx="100000" sy="100000" kx="0" ky="0" algn="bl" rotWithShape="0" blurRad="114300" dist="38100" dir="5400000">
              <a:srgbClr val="000000">
                <a:alpha val="28000"/>
              </a:srgbClr>
            </a:outerShdw>
          </a:effectLst>
        </p:spPr>
      </p:sp>
      <p:sp>
        <p:nvSpPr>
          <p:cNvPr id="25" name="Shape 18"/>
          <p:cNvSpPr/>
          <p:nvPr/>
        </p:nvSpPr>
        <p:spPr>
          <a:xfrm>
            <a:off x="7979512" y="3346704"/>
            <a:ext cx="566928" cy="566928"/>
          </a:xfrm>
          <a:prstGeom prst="ellipse">
            <a:avLst/>
          </a:prstGeom>
          <a:solidFill>
            <a:srgbClr val="0B1220"/>
          </a:solidFill>
          <a:ln w="12700">
            <a:solidFill>
              <a:srgbClr val="1CA9DF"/>
            </a:solidFill>
            <a:prstDash val="solid"/>
          </a:ln>
        </p:spPr>
      </p:sp>
      <p:pic>
        <p:nvPicPr>
          <p:cNvPr id="26" name="Image 5" descr="preencoded.png">    </p:cNvPr>
          <p:cNvPicPr>
            <a:picLocks noChangeAspect="1"/>
          </p:cNvPicPr>
          <p:nvPr/>
        </p:nvPicPr>
        <p:blipFill>
          <a:blip r:embed="rId6"/>
          <a:stretch>
            <a:fillRect/>
          </a:stretch>
        </p:blipFill>
        <p:spPr>
          <a:xfrm>
            <a:off x="8089240" y="3456432"/>
            <a:ext cx="347472" cy="347472"/>
          </a:xfrm>
          <a:prstGeom prst="rect">
            <a:avLst/>
          </a:prstGeom>
        </p:spPr>
      </p:pic>
      <p:sp>
        <p:nvSpPr>
          <p:cNvPr id="27" name="Text 19"/>
          <p:cNvSpPr/>
          <p:nvPr/>
        </p:nvSpPr>
        <p:spPr>
          <a:xfrm>
            <a:off x="6315304" y="3383280"/>
            <a:ext cx="1709928" cy="502920"/>
          </a:xfrm>
          <a:prstGeom prst="rect">
            <a:avLst/>
          </a:prstGeom>
          <a:noFill/>
          <a:ln/>
        </p:spPr>
        <p:txBody>
          <a:bodyPr wrap="square" lIns="0" tIns="0" rIns="0" bIns="0" rtlCol="0" anchor="ctr"/>
          <a:lstStyle/>
          <a:p>
            <a:pPr rtl="1" algn="r" indent="0" marL="0">
              <a:buNone/>
            </a:pPr>
            <a:r>
              <a:rPr lang="en-US" sz="1450" b="1" dirty="0">
                <a:solidFill>
                  <a:srgbClr val="E8EEF6"/>
                </a:solidFill>
                <a:latin typeface="Arial" pitchFamily="34" charset="0"/>
                <a:ea typeface="Arial" pitchFamily="34" charset="-122"/>
                <a:cs typeface="Arial" pitchFamily="34" charset="-120"/>
              </a:rPr>
              <a:t>الضغط الجوي</a:t>
            </a:r>
            <a:endParaRPr lang="en-US" sz="1450" dirty="0"/>
          </a:p>
        </p:txBody>
      </p:sp>
      <p:sp>
        <p:nvSpPr>
          <p:cNvPr id="28" name="Shape 20"/>
          <p:cNvSpPr/>
          <p:nvPr/>
        </p:nvSpPr>
        <p:spPr>
          <a:xfrm>
            <a:off x="3343504" y="3090672"/>
            <a:ext cx="2670048" cy="1078992"/>
          </a:xfrm>
          <a:prstGeom prst="roundRect">
            <a:avLst>
              <a:gd name="adj" fmla="val 7627"/>
            </a:avLst>
          </a:prstGeom>
          <a:solidFill>
            <a:srgbClr val="111B2E"/>
          </a:solidFill>
          <a:ln w="12700">
            <a:solidFill>
              <a:srgbClr val="243349"/>
            </a:solidFill>
            <a:prstDash val="solid"/>
          </a:ln>
          <a:effectLst>
            <a:outerShdw sx="100000" sy="100000" kx="0" ky="0" algn="bl" rotWithShape="0" blurRad="114300" dist="38100" dir="5400000">
              <a:srgbClr val="000000">
                <a:alpha val="28000"/>
              </a:srgbClr>
            </a:outerShdw>
          </a:effectLst>
        </p:spPr>
      </p:sp>
      <p:sp>
        <p:nvSpPr>
          <p:cNvPr id="29" name="Shape 21"/>
          <p:cNvSpPr/>
          <p:nvPr/>
        </p:nvSpPr>
        <p:spPr>
          <a:xfrm>
            <a:off x="5144872" y="3346704"/>
            <a:ext cx="566928" cy="566928"/>
          </a:xfrm>
          <a:prstGeom prst="ellipse">
            <a:avLst/>
          </a:prstGeom>
          <a:solidFill>
            <a:srgbClr val="0B1220"/>
          </a:solidFill>
          <a:ln w="12700">
            <a:solidFill>
              <a:srgbClr val="1CA9DF"/>
            </a:solidFill>
            <a:prstDash val="solid"/>
          </a:ln>
        </p:spPr>
      </p:sp>
      <p:pic>
        <p:nvPicPr>
          <p:cNvPr id="30" name="Image 6" descr="preencoded.png">    </p:cNvPr>
          <p:cNvPicPr>
            <a:picLocks noChangeAspect="1"/>
          </p:cNvPicPr>
          <p:nvPr/>
        </p:nvPicPr>
        <p:blipFill>
          <a:blip r:embed="rId7"/>
          <a:stretch>
            <a:fillRect/>
          </a:stretch>
        </p:blipFill>
        <p:spPr>
          <a:xfrm>
            <a:off x="5254600" y="3456432"/>
            <a:ext cx="347472" cy="347472"/>
          </a:xfrm>
          <a:prstGeom prst="rect">
            <a:avLst/>
          </a:prstGeom>
        </p:spPr>
      </p:pic>
      <p:sp>
        <p:nvSpPr>
          <p:cNvPr id="31" name="Text 22"/>
          <p:cNvSpPr/>
          <p:nvPr/>
        </p:nvSpPr>
        <p:spPr>
          <a:xfrm>
            <a:off x="3480664" y="3383280"/>
            <a:ext cx="1709928" cy="502920"/>
          </a:xfrm>
          <a:prstGeom prst="rect">
            <a:avLst/>
          </a:prstGeom>
          <a:noFill/>
          <a:ln/>
        </p:spPr>
        <p:txBody>
          <a:bodyPr wrap="square" lIns="0" tIns="0" rIns="0" bIns="0" rtlCol="0" anchor="ctr"/>
          <a:lstStyle/>
          <a:p>
            <a:pPr rtl="1" algn="r" indent="0" marL="0">
              <a:buNone/>
            </a:pPr>
            <a:r>
              <a:rPr lang="en-US" sz="1450" b="1" dirty="0">
                <a:solidFill>
                  <a:srgbClr val="E8EEF6"/>
                </a:solidFill>
                <a:latin typeface="Arial" pitchFamily="34" charset="0"/>
                <a:ea typeface="Arial" pitchFamily="34" charset="-122"/>
                <a:cs typeface="Arial" pitchFamily="34" charset="-120"/>
              </a:rPr>
              <a:t>الرطوبة</a:t>
            </a:r>
            <a:endParaRPr lang="en-US" sz="1450" dirty="0"/>
          </a:p>
        </p:txBody>
      </p:sp>
      <p:sp>
        <p:nvSpPr>
          <p:cNvPr id="32" name="Shape 23"/>
          <p:cNvSpPr/>
          <p:nvPr/>
        </p:nvSpPr>
        <p:spPr>
          <a:xfrm>
            <a:off x="508864" y="3090672"/>
            <a:ext cx="2670048" cy="1078992"/>
          </a:xfrm>
          <a:prstGeom prst="roundRect">
            <a:avLst>
              <a:gd name="adj" fmla="val 7627"/>
            </a:avLst>
          </a:prstGeom>
          <a:solidFill>
            <a:srgbClr val="111B2E"/>
          </a:solidFill>
          <a:ln w="12700">
            <a:solidFill>
              <a:srgbClr val="243349"/>
            </a:solidFill>
            <a:prstDash val="solid"/>
          </a:ln>
          <a:effectLst>
            <a:outerShdw sx="100000" sy="100000" kx="0" ky="0" algn="bl" rotWithShape="0" blurRad="114300" dist="38100" dir="5400000">
              <a:srgbClr val="000000">
                <a:alpha val="28000"/>
              </a:srgbClr>
            </a:outerShdw>
          </a:effectLst>
        </p:spPr>
      </p:sp>
      <p:sp>
        <p:nvSpPr>
          <p:cNvPr id="33" name="Shape 24"/>
          <p:cNvSpPr/>
          <p:nvPr/>
        </p:nvSpPr>
        <p:spPr>
          <a:xfrm>
            <a:off x="2310232" y="3346704"/>
            <a:ext cx="566928" cy="566928"/>
          </a:xfrm>
          <a:prstGeom prst="ellipse">
            <a:avLst/>
          </a:prstGeom>
          <a:solidFill>
            <a:srgbClr val="0B1220"/>
          </a:solidFill>
          <a:ln w="12700">
            <a:solidFill>
              <a:srgbClr val="1CA9DF"/>
            </a:solidFill>
            <a:prstDash val="solid"/>
          </a:ln>
        </p:spPr>
      </p:sp>
      <p:pic>
        <p:nvPicPr>
          <p:cNvPr id="34" name="Image 7" descr="preencoded.png">    </p:cNvPr>
          <p:cNvPicPr>
            <a:picLocks noChangeAspect="1"/>
          </p:cNvPicPr>
          <p:nvPr/>
        </p:nvPicPr>
        <p:blipFill>
          <a:blip r:embed="rId8"/>
          <a:stretch>
            <a:fillRect/>
          </a:stretch>
        </p:blipFill>
        <p:spPr>
          <a:xfrm>
            <a:off x="2419960" y="3456432"/>
            <a:ext cx="347472" cy="347472"/>
          </a:xfrm>
          <a:prstGeom prst="rect">
            <a:avLst/>
          </a:prstGeom>
        </p:spPr>
      </p:pic>
      <p:sp>
        <p:nvSpPr>
          <p:cNvPr id="35" name="Text 25"/>
          <p:cNvSpPr/>
          <p:nvPr/>
        </p:nvSpPr>
        <p:spPr>
          <a:xfrm>
            <a:off x="646024" y="3383280"/>
            <a:ext cx="1709928" cy="502920"/>
          </a:xfrm>
          <a:prstGeom prst="rect">
            <a:avLst/>
          </a:prstGeom>
          <a:noFill/>
          <a:ln/>
        </p:spPr>
        <p:txBody>
          <a:bodyPr wrap="square" lIns="0" tIns="0" rIns="0" bIns="0" rtlCol="0" anchor="ctr"/>
          <a:lstStyle/>
          <a:p>
            <a:pPr rtl="1" algn="r" indent="0" marL="0">
              <a:buNone/>
            </a:pPr>
            <a:r>
              <a:rPr lang="en-US" sz="1450" b="1" dirty="0">
                <a:solidFill>
                  <a:srgbClr val="E8EEF6"/>
                </a:solidFill>
                <a:latin typeface="Arial" pitchFamily="34" charset="0"/>
                <a:ea typeface="Arial" pitchFamily="34" charset="-122"/>
                <a:cs typeface="Arial" pitchFamily="34" charset="-120"/>
              </a:rPr>
              <a:t>نقطة الندى</a:t>
            </a:r>
            <a:endParaRPr lang="en-US" sz="1450" dirty="0"/>
          </a:p>
        </p:txBody>
      </p:sp>
      <p:sp>
        <p:nvSpPr>
          <p:cNvPr id="36" name="Shape 26"/>
          <p:cNvSpPr/>
          <p:nvPr/>
        </p:nvSpPr>
        <p:spPr>
          <a:xfrm>
            <a:off x="9012784" y="4352544"/>
            <a:ext cx="2670048" cy="1078992"/>
          </a:xfrm>
          <a:prstGeom prst="roundRect">
            <a:avLst>
              <a:gd name="adj" fmla="val 7627"/>
            </a:avLst>
          </a:prstGeom>
          <a:solidFill>
            <a:srgbClr val="111B2E"/>
          </a:solidFill>
          <a:ln w="12700">
            <a:solidFill>
              <a:srgbClr val="243349"/>
            </a:solidFill>
            <a:prstDash val="solid"/>
          </a:ln>
          <a:effectLst>
            <a:outerShdw sx="100000" sy="100000" kx="0" ky="0" algn="bl" rotWithShape="0" blurRad="114300" dist="38100" dir="5400000">
              <a:srgbClr val="000000">
                <a:alpha val="28000"/>
              </a:srgbClr>
            </a:outerShdw>
          </a:effectLst>
        </p:spPr>
      </p:sp>
      <p:sp>
        <p:nvSpPr>
          <p:cNvPr id="37" name="Shape 27"/>
          <p:cNvSpPr/>
          <p:nvPr/>
        </p:nvSpPr>
        <p:spPr>
          <a:xfrm>
            <a:off x="10814152" y="4608576"/>
            <a:ext cx="566928" cy="566928"/>
          </a:xfrm>
          <a:prstGeom prst="ellipse">
            <a:avLst/>
          </a:prstGeom>
          <a:solidFill>
            <a:srgbClr val="0B1220"/>
          </a:solidFill>
          <a:ln w="12700">
            <a:solidFill>
              <a:srgbClr val="1CA9DF"/>
            </a:solidFill>
            <a:prstDash val="solid"/>
          </a:ln>
        </p:spPr>
      </p:sp>
      <p:pic>
        <p:nvPicPr>
          <p:cNvPr id="38" name="Image 8" descr="preencoded.png">    </p:cNvPr>
          <p:cNvPicPr>
            <a:picLocks noChangeAspect="1"/>
          </p:cNvPicPr>
          <p:nvPr/>
        </p:nvPicPr>
        <p:blipFill>
          <a:blip r:embed="rId9"/>
          <a:stretch>
            <a:fillRect/>
          </a:stretch>
        </p:blipFill>
        <p:spPr>
          <a:xfrm>
            <a:off x="10923880" y="4718304"/>
            <a:ext cx="347472" cy="347472"/>
          </a:xfrm>
          <a:prstGeom prst="rect">
            <a:avLst/>
          </a:prstGeom>
        </p:spPr>
      </p:pic>
      <p:sp>
        <p:nvSpPr>
          <p:cNvPr id="39" name="Text 28"/>
          <p:cNvSpPr/>
          <p:nvPr/>
        </p:nvSpPr>
        <p:spPr>
          <a:xfrm>
            <a:off x="9149944" y="4645152"/>
            <a:ext cx="1709928" cy="502920"/>
          </a:xfrm>
          <a:prstGeom prst="rect">
            <a:avLst/>
          </a:prstGeom>
          <a:noFill/>
          <a:ln/>
        </p:spPr>
        <p:txBody>
          <a:bodyPr wrap="square" lIns="0" tIns="0" rIns="0" bIns="0" rtlCol="0" anchor="ctr"/>
          <a:lstStyle/>
          <a:p>
            <a:pPr rtl="1" algn="r" indent="0" marL="0">
              <a:buNone/>
            </a:pPr>
            <a:r>
              <a:rPr lang="en-US" sz="1450" b="1" dirty="0">
                <a:solidFill>
                  <a:srgbClr val="E8EEF6"/>
                </a:solidFill>
                <a:latin typeface="Arial" pitchFamily="34" charset="0"/>
                <a:ea typeface="Arial" pitchFamily="34" charset="-122"/>
                <a:cs typeface="Arial" pitchFamily="34" charset="-120"/>
              </a:rPr>
              <a:t>الغيوم</a:t>
            </a:r>
            <a:endParaRPr lang="en-US" sz="1450" dirty="0"/>
          </a:p>
        </p:txBody>
      </p:sp>
      <p:sp>
        <p:nvSpPr>
          <p:cNvPr id="40" name="Shape 29"/>
          <p:cNvSpPr/>
          <p:nvPr/>
        </p:nvSpPr>
        <p:spPr>
          <a:xfrm>
            <a:off x="6178144" y="4352544"/>
            <a:ext cx="2670048" cy="1078992"/>
          </a:xfrm>
          <a:prstGeom prst="roundRect">
            <a:avLst>
              <a:gd name="adj" fmla="val 7627"/>
            </a:avLst>
          </a:prstGeom>
          <a:solidFill>
            <a:srgbClr val="111B2E"/>
          </a:solidFill>
          <a:ln w="12700">
            <a:solidFill>
              <a:srgbClr val="243349"/>
            </a:solidFill>
            <a:prstDash val="solid"/>
          </a:ln>
          <a:effectLst>
            <a:outerShdw sx="100000" sy="100000" kx="0" ky="0" algn="bl" rotWithShape="0" blurRad="114300" dist="38100" dir="5400000">
              <a:srgbClr val="000000">
                <a:alpha val="28000"/>
              </a:srgbClr>
            </a:outerShdw>
          </a:effectLst>
        </p:spPr>
      </p:sp>
      <p:sp>
        <p:nvSpPr>
          <p:cNvPr id="41" name="Shape 30"/>
          <p:cNvSpPr/>
          <p:nvPr/>
        </p:nvSpPr>
        <p:spPr>
          <a:xfrm>
            <a:off x="7979512" y="4608576"/>
            <a:ext cx="566928" cy="566928"/>
          </a:xfrm>
          <a:prstGeom prst="ellipse">
            <a:avLst/>
          </a:prstGeom>
          <a:solidFill>
            <a:srgbClr val="0B1220"/>
          </a:solidFill>
          <a:ln w="12700">
            <a:solidFill>
              <a:srgbClr val="1CA9DF"/>
            </a:solidFill>
            <a:prstDash val="solid"/>
          </a:ln>
        </p:spPr>
      </p:sp>
      <p:pic>
        <p:nvPicPr>
          <p:cNvPr id="42" name="Image 9" descr="preencoded.png">    </p:cNvPr>
          <p:cNvPicPr>
            <a:picLocks noChangeAspect="1"/>
          </p:cNvPicPr>
          <p:nvPr/>
        </p:nvPicPr>
        <p:blipFill>
          <a:blip r:embed="rId10"/>
          <a:stretch>
            <a:fillRect/>
          </a:stretch>
        </p:blipFill>
        <p:spPr>
          <a:xfrm>
            <a:off x="8089240" y="4718304"/>
            <a:ext cx="347472" cy="347472"/>
          </a:xfrm>
          <a:prstGeom prst="rect">
            <a:avLst/>
          </a:prstGeom>
        </p:spPr>
      </p:pic>
      <p:sp>
        <p:nvSpPr>
          <p:cNvPr id="43" name="Text 31"/>
          <p:cNvSpPr/>
          <p:nvPr/>
        </p:nvSpPr>
        <p:spPr>
          <a:xfrm>
            <a:off x="6315304" y="4645152"/>
            <a:ext cx="1709928" cy="502920"/>
          </a:xfrm>
          <a:prstGeom prst="rect">
            <a:avLst/>
          </a:prstGeom>
          <a:noFill/>
          <a:ln/>
        </p:spPr>
        <p:txBody>
          <a:bodyPr wrap="square" lIns="0" tIns="0" rIns="0" bIns="0" rtlCol="0" anchor="ctr"/>
          <a:lstStyle/>
          <a:p>
            <a:pPr rtl="1" algn="r" indent="0" marL="0">
              <a:buNone/>
            </a:pPr>
            <a:r>
              <a:rPr lang="en-US" sz="1450" b="1" dirty="0">
                <a:solidFill>
                  <a:srgbClr val="E8EEF6"/>
                </a:solidFill>
                <a:latin typeface="Arial" pitchFamily="34" charset="0"/>
                <a:ea typeface="Arial" pitchFamily="34" charset="-122"/>
                <a:cs typeface="Arial" pitchFamily="34" charset="-120"/>
              </a:rPr>
              <a:t>رادار المطر</a:t>
            </a:r>
            <a:endParaRPr lang="en-US" sz="1450" dirty="0"/>
          </a:p>
        </p:txBody>
      </p:sp>
      <p:sp>
        <p:nvSpPr>
          <p:cNvPr id="44" name="Shape 32"/>
          <p:cNvSpPr/>
          <p:nvPr/>
        </p:nvSpPr>
        <p:spPr>
          <a:xfrm>
            <a:off x="3343504" y="4352544"/>
            <a:ext cx="2670048" cy="1078992"/>
          </a:xfrm>
          <a:prstGeom prst="roundRect">
            <a:avLst>
              <a:gd name="adj" fmla="val 7627"/>
            </a:avLst>
          </a:prstGeom>
          <a:solidFill>
            <a:srgbClr val="111B2E"/>
          </a:solidFill>
          <a:ln w="12700">
            <a:solidFill>
              <a:srgbClr val="243349"/>
            </a:solidFill>
            <a:prstDash val="solid"/>
          </a:ln>
          <a:effectLst>
            <a:outerShdw sx="100000" sy="100000" kx="0" ky="0" algn="bl" rotWithShape="0" blurRad="114300" dist="38100" dir="5400000">
              <a:srgbClr val="000000">
                <a:alpha val="28000"/>
              </a:srgbClr>
            </a:outerShdw>
          </a:effectLst>
        </p:spPr>
      </p:sp>
      <p:sp>
        <p:nvSpPr>
          <p:cNvPr id="45" name="Shape 33"/>
          <p:cNvSpPr/>
          <p:nvPr/>
        </p:nvSpPr>
        <p:spPr>
          <a:xfrm>
            <a:off x="5144872" y="4608576"/>
            <a:ext cx="566928" cy="566928"/>
          </a:xfrm>
          <a:prstGeom prst="ellipse">
            <a:avLst/>
          </a:prstGeom>
          <a:solidFill>
            <a:srgbClr val="0B1220"/>
          </a:solidFill>
          <a:ln w="12700">
            <a:solidFill>
              <a:srgbClr val="1CA9DF"/>
            </a:solidFill>
            <a:prstDash val="solid"/>
          </a:ln>
        </p:spPr>
      </p:sp>
      <p:pic>
        <p:nvPicPr>
          <p:cNvPr id="46" name="Image 10" descr="preencoded.png">    </p:cNvPr>
          <p:cNvPicPr>
            <a:picLocks noChangeAspect="1"/>
          </p:cNvPicPr>
          <p:nvPr/>
        </p:nvPicPr>
        <p:blipFill>
          <a:blip r:embed="rId11"/>
          <a:stretch>
            <a:fillRect/>
          </a:stretch>
        </p:blipFill>
        <p:spPr>
          <a:xfrm>
            <a:off x="5254600" y="4718304"/>
            <a:ext cx="347472" cy="347472"/>
          </a:xfrm>
          <a:prstGeom prst="rect">
            <a:avLst/>
          </a:prstGeom>
        </p:spPr>
      </p:pic>
      <p:sp>
        <p:nvSpPr>
          <p:cNvPr id="47" name="Text 34"/>
          <p:cNvSpPr/>
          <p:nvPr/>
        </p:nvSpPr>
        <p:spPr>
          <a:xfrm>
            <a:off x="3480664" y="4645152"/>
            <a:ext cx="1709928" cy="502920"/>
          </a:xfrm>
          <a:prstGeom prst="rect">
            <a:avLst/>
          </a:prstGeom>
          <a:noFill/>
          <a:ln/>
        </p:spPr>
        <p:txBody>
          <a:bodyPr wrap="square" lIns="0" tIns="0" rIns="0" bIns="0" rtlCol="0" anchor="ctr"/>
          <a:lstStyle/>
          <a:p>
            <a:pPr rtl="1" algn="r" indent="0" marL="0">
              <a:buNone/>
            </a:pPr>
            <a:r>
              <a:rPr lang="en-US" sz="1450" b="1" dirty="0">
                <a:solidFill>
                  <a:srgbClr val="E8EEF6"/>
                </a:solidFill>
                <a:latin typeface="Arial" pitchFamily="34" charset="0"/>
                <a:ea typeface="Arial" pitchFamily="34" charset="-122"/>
                <a:cs typeface="Arial" pitchFamily="34" charset="-120"/>
              </a:rPr>
              <a:t>أقمار صناعية</a:t>
            </a:r>
            <a:endParaRPr lang="en-US" sz="1450" dirty="0"/>
          </a:p>
        </p:txBody>
      </p:sp>
      <p:sp>
        <p:nvSpPr>
          <p:cNvPr id="48" name="Shape 35"/>
          <p:cNvSpPr/>
          <p:nvPr/>
        </p:nvSpPr>
        <p:spPr>
          <a:xfrm>
            <a:off x="508864" y="4352544"/>
            <a:ext cx="2670048" cy="1078992"/>
          </a:xfrm>
          <a:prstGeom prst="roundRect">
            <a:avLst>
              <a:gd name="adj" fmla="val 7627"/>
            </a:avLst>
          </a:prstGeom>
          <a:solidFill>
            <a:srgbClr val="111B2E"/>
          </a:solidFill>
          <a:ln w="12700">
            <a:solidFill>
              <a:srgbClr val="243349"/>
            </a:solidFill>
            <a:prstDash val="solid"/>
          </a:ln>
          <a:effectLst>
            <a:outerShdw sx="100000" sy="100000" kx="0" ky="0" algn="bl" rotWithShape="0" blurRad="114300" dist="38100" dir="5400000">
              <a:srgbClr val="000000">
                <a:alpha val="28000"/>
              </a:srgbClr>
            </a:outerShdw>
          </a:effectLst>
        </p:spPr>
      </p:sp>
      <p:sp>
        <p:nvSpPr>
          <p:cNvPr id="49" name="Shape 36"/>
          <p:cNvSpPr/>
          <p:nvPr/>
        </p:nvSpPr>
        <p:spPr>
          <a:xfrm>
            <a:off x="2310232" y="4608576"/>
            <a:ext cx="566928" cy="566928"/>
          </a:xfrm>
          <a:prstGeom prst="ellipse">
            <a:avLst/>
          </a:prstGeom>
          <a:solidFill>
            <a:srgbClr val="0B1220"/>
          </a:solidFill>
          <a:ln w="12700">
            <a:solidFill>
              <a:srgbClr val="1CA9DF"/>
            </a:solidFill>
            <a:prstDash val="solid"/>
          </a:ln>
        </p:spPr>
      </p:sp>
      <p:pic>
        <p:nvPicPr>
          <p:cNvPr id="50" name="Image 11" descr="preencoded.png">    </p:cNvPr>
          <p:cNvPicPr>
            <a:picLocks noChangeAspect="1"/>
          </p:cNvPicPr>
          <p:nvPr/>
        </p:nvPicPr>
        <p:blipFill>
          <a:blip r:embed="rId12"/>
          <a:stretch>
            <a:fillRect/>
          </a:stretch>
        </p:blipFill>
        <p:spPr>
          <a:xfrm>
            <a:off x="2419960" y="4718304"/>
            <a:ext cx="347472" cy="347472"/>
          </a:xfrm>
          <a:prstGeom prst="rect">
            <a:avLst/>
          </a:prstGeom>
        </p:spPr>
      </p:pic>
      <p:sp>
        <p:nvSpPr>
          <p:cNvPr id="51" name="Text 37"/>
          <p:cNvSpPr/>
          <p:nvPr/>
        </p:nvSpPr>
        <p:spPr>
          <a:xfrm>
            <a:off x="646024" y="4645152"/>
            <a:ext cx="1709928" cy="502920"/>
          </a:xfrm>
          <a:prstGeom prst="rect">
            <a:avLst/>
          </a:prstGeom>
          <a:noFill/>
          <a:ln/>
        </p:spPr>
        <p:txBody>
          <a:bodyPr wrap="square" lIns="0" tIns="0" rIns="0" bIns="0" rtlCol="0" anchor="ctr"/>
          <a:lstStyle/>
          <a:p>
            <a:pPr rtl="1" algn="r" indent="0" marL="0">
              <a:buNone/>
            </a:pPr>
            <a:r>
              <a:rPr lang="en-US" sz="1450" b="1" dirty="0">
                <a:solidFill>
                  <a:srgbClr val="E8EEF6"/>
                </a:solidFill>
                <a:latin typeface="Arial" pitchFamily="34" charset="0"/>
                <a:ea typeface="Arial" pitchFamily="34" charset="-122"/>
                <a:cs typeface="Arial" pitchFamily="34" charset="-120"/>
              </a:rPr>
              <a:t>الأعاصير</a:t>
            </a:r>
            <a:endParaRPr lang="en-US" sz="1450" dirty="0"/>
          </a:p>
        </p:txBody>
      </p:sp>
      <p:sp>
        <p:nvSpPr>
          <p:cNvPr id="52" name="Shape 38"/>
          <p:cNvSpPr/>
          <p:nvPr/>
        </p:nvSpPr>
        <p:spPr>
          <a:xfrm>
            <a:off x="9012784" y="5614416"/>
            <a:ext cx="2670048" cy="1078992"/>
          </a:xfrm>
          <a:prstGeom prst="roundRect">
            <a:avLst>
              <a:gd name="adj" fmla="val 7627"/>
            </a:avLst>
          </a:prstGeom>
          <a:solidFill>
            <a:srgbClr val="111B2E"/>
          </a:solidFill>
          <a:ln w="12700">
            <a:solidFill>
              <a:srgbClr val="243349"/>
            </a:solidFill>
            <a:prstDash val="solid"/>
          </a:ln>
          <a:effectLst>
            <a:outerShdw sx="100000" sy="100000" kx="0" ky="0" algn="bl" rotWithShape="0" blurRad="114300" dist="38100" dir="5400000">
              <a:srgbClr val="000000">
                <a:alpha val="28000"/>
              </a:srgbClr>
            </a:outerShdw>
          </a:effectLst>
        </p:spPr>
      </p:sp>
      <p:sp>
        <p:nvSpPr>
          <p:cNvPr id="53" name="Shape 39"/>
          <p:cNvSpPr/>
          <p:nvPr/>
        </p:nvSpPr>
        <p:spPr>
          <a:xfrm>
            <a:off x="10814152" y="5870448"/>
            <a:ext cx="566928" cy="566928"/>
          </a:xfrm>
          <a:prstGeom prst="ellipse">
            <a:avLst/>
          </a:prstGeom>
          <a:solidFill>
            <a:srgbClr val="0B1220"/>
          </a:solidFill>
          <a:ln w="12700">
            <a:solidFill>
              <a:srgbClr val="1CA9DF"/>
            </a:solidFill>
            <a:prstDash val="solid"/>
          </a:ln>
        </p:spPr>
      </p:sp>
      <p:pic>
        <p:nvPicPr>
          <p:cNvPr id="54" name="Image 12" descr="preencoded.png">    </p:cNvPr>
          <p:cNvPicPr>
            <a:picLocks noChangeAspect="1"/>
          </p:cNvPicPr>
          <p:nvPr/>
        </p:nvPicPr>
        <p:blipFill>
          <a:blip r:embed="rId13"/>
          <a:stretch>
            <a:fillRect/>
          </a:stretch>
        </p:blipFill>
        <p:spPr>
          <a:xfrm>
            <a:off x="10923880" y="5980176"/>
            <a:ext cx="347472" cy="347472"/>
          </a:xfrm>
          <a:prstGeom prst="rect">
            <a:avLst/>
          </a:prstGeom>
        </p:spPr>
      </p:pic>
      <p:sp>
        <p:nvSpPr>
          <p:cNvPr id="55" name="Text 40"/>
          <p:cNvSpPr/>
          <p:nvPr/>
        </p:nvSpPr>
        <p:spPr>
          <a:xfrm>
            <a:off x="9149944" y="5907024"/>
            <a:ext cx="1709928" cy="502920"/>
          </a:xfrm>
          <a:prstGeom prst="rect">
            <a:avLst/>
          </a:prstGeom>
          <a:noFill/>
          <a:ln/>
        </p:spPr>
        <p:txBody>
          <a:bodyPr wrap="square" lIns="0" tIns="0" rIns="0" bIns="0" rtlCol="0" anchor="ctr"/>
          <a:lstStyle/>
          <a:p>
            <a:pPr rtl="1" algn="r" indent="0" marL="0">
              <a:buNone/>
            </a:pPr>
            <a:r>
              <a:rPr lang="en-US" sz="1450" b="1" dirty="0">
                <a:solidFill>
                  <a:srgbClr val="E8EEF6"/>
                </a:solidFill>
                <a:latin typeface="Arial" pitchFamily="34" charset="0"/>
                <a:ea typeface="Arial" pitchFamily="34" charset="-122"/>
                <a:cs typeface="Arial" pitchFamily="34" charset="-120"/>
              </a:rPr>
              <a:t>الحرائق</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502920"/>
            <a:ext cx="11064240" cy="365760"/>
          </a:xfrm>
          <a:prstGeom prst="rect">
            <a:avLst/>
          </a:prstGeom>
          <a:noFill/>
          <a:ln/>
        </p:spPr>
        <p:txBody>
          <a:bodyPr wrap="square" lIns="0" tIns="0" rIns="0" bIns="0" rtlCol="0" anchor="ctr"/>
          <a:lstStyle/>
          <a:p>
            <a:pPr rtl="1" algn="r" indent="0" marL="0">
              <a:buNone/>
            </a:pPr>
            <a:r>
              <a:rPr lang="en-US" sz="1400" b="1" spc="200" kern="0" dirty="0">
                <a:solidFill>
                  <a:srgbClr val="1CA9DF"/>
                </a:solidFill>
                <a:latin typeface="Arial" pitchFamily="34" charset="0"/>
                <a:ea typeface="Arial" pitchFamily="34" charset="-122"/>
                <a:cs typeface="Arial" pitchFamily="34" charset="-120"/>
              </a:rPr>
              <a:t>البنية التقنية</a:t>
            </a:r>
            <a:endParaRPr lang="en-US" sz="1400" dirty="0"/>
          </a:p>
        </p:txBody>
      </p:sp>
      <p:sp>
        <p:nvSpPr>
          <p:cNvPr id="3" name="Text 1"/>
          <p:cNvSpPr/>
          <p:nvPr/>
        </p:nvSpPr>
        <p:spPr>
          <a:xfrm>
            <a:off x="548640" y="868680"/>
            <a:ext cx="11064240" cy="822960"/>
          </a:xfrm>
          <a:prstGeom prst="rect">
            <a:avLst/>
          </a:prstGeom>
          <a:noFill/>
          <a:ln/>
        </p:spPr>
        <p:txBody>
          <a:bodyPr wrap="square" lIns="0" tIns="0" rIns="0" bIns="0" rtlCol="0" anchor="ctr"/>
          <a:lstStyle/>
          <a:p>
            <a:pPr rtl="1" algn="r" indent="0" marL="0">
              <a:buNone/>
            </a:pPr>
            <a:r>
              <a:rPr lang="en-US" sz="3400" b="1" dirty="0">
                <a:solidFill>
                  <a:srgbClr val="E8EEF6"/>
                </a:solidFill>
                <a:latin typeface="Cambria" pitchFamily="34" charset="0"/>
                <a:ea typeface="Cambria" pitchFamily="34" charset="-122"/>
                <a:cs typeface="Cambria" pitchFamily="34" charset="-120"/>
              </a:rPr>
              <a:t>بُني بأحدث التقنيات</a:t>
            </a:r>
            <a:endParaRPr lang="en-US" sz="3400" dirty="0"/>
          </a:p>
        </p:txBody>
      </p:sp>
      <p:sp>
        <p:nvSpPr>
          <p:cNvPr id="4" name="Shape 2"/>
          <p:cNvSpPr/>
          <p:nvPr/>
        </p:nvSpPr>
        <p:spPr>
          <a:xfrm>
            <a:off x="548640" y="1828800"/>
            <a:ext cx="5532120" cy="3657600"/>
          </a:xfrm>
          <a:prstGeom prst="roundRect">
            <a:avLst>
              <a:gd name="adj" fmla="val 2250"/>
            </a:avLst>
          </a:prstGeom>
          <a:solidFill>
            <a:srgbClr val="111B2E"/>
          </a:solidFill>
          <a:ln w="12700">
            <a:solidFill>
              <a:srgbClr val="243349"/>
            </a:solidFill>
            <a:prstDash val="solid"/>
          </a:ln>
          <a:effectLst>
            <a:outerShdw sx="100000" sy="100000" kx="0" ky="0" algn="bl" rotWithShape="0" blurRad="114300" dist="38100" dir="5400000">
              <a:srgbClr val="000000">
                <a:alpha val="28000"/>
              </a:srgbClr>
            </a:outerShdw>
          </a:effectLst>
        </p:spPr>
      </p:sp>
      <p:sp>
        <p:nvSpPr>
          <p:cNvPr id="5" name="Shape 3"/>
          <p:cNvSpPr/>
          <p:nvPr/>
        </p:nvSpPr>
        <p:spPr>
          <a:xfrm>
            <a:off x="5212080" y="2057400"/>
            <a:ext cx="502920" cy="502920"/>
          </a:xfrm>
          <a:prstGeom prst="ellipse">
            <a:avLst/>
          </a:prstGeom>
          <a:solidFill>
            <a:srgbClr val="0D76B3"/>
          </a:solidFill>
          <a:ln/>
        </p:spPr>
      </p:sp>
      <p:sp>
        <p:nvSpPr>
          <p:cNvPr id="6" name="Text 4"/>
          <p:cNvSpPr/>
          <p:nvPr/>
        </p:nvSpPr>
        <p:spPr>
          <a:xfrm>
            <a:off x="822960" y="2084832"/>
            <a:ext cx="4343400" cy="457200"/>
          </a:xfrm>
          <a:prstGeom prst="rect">
            <a:avLst/>
          </a:prstGeom>
          <a:noFill/>
          <a:ln/>
        </p:spPr>
        <p:txBody>
          <a:bodyPr wrap="square" lIns="0" tIns="0" rIns="0" bIns="0" rtlCol="0" anchor="ctr"/>
          <a:lstStyle/>
          <a:p>
            <a:pPr rtl="1" algn="r" indent="0" marL="0">
              <a:buNone/>
            </a:pPr>
            <a:r>
              <a:rPr lang="en-US" sz="2000" b="1" dirty="0">
                <a:solidFill>
                  <a:srgbClr val="E8EEF6"/>
                </a:solidFill>
                <a:latin typeface="Arial" pitchFamily="34" charset="0"/>
                <a:ea typeface="Arial" pitchFamily="34" charset="-122"/>
                <a:cs typeface="Arial" pitchFamily="34" charset="-120"/>
              </a:rPr>
              <a:t>الواجهة الأمامية</a:t>
            </a:r>
            <a:endParaRPr lang="en-US" sz="2000" dirty="0"/>
          </a:p>
        </p:txBody>
      </p:sp>
      <p:sp>
        <p:nvSpPr>
          <p:cNvPr id="7" name="Shape 5"/>
          <p:cNvSpPr/>
          <p:nvPr/>
        </p:nvSpPr>
        <p:spPr>
          <a:xfrm>
            <a:off x="5577840" y="2953512"/>
            <a:ext cx="128016" cy="128016"/>
          </a:xfrm>
          <a:prstGeom prst="ellipse">
            <a:avLst/>
          </a:prstGeom>
          <a:solidFill>
            <a:srgbClr val="1CA9DF"/>
          </a:solidFill>
          <a:ln/>
        </p:spPr>
      </p:sp>
      <p:sp>
        <p:nvSpPr>
          <p:cNvPr id="8" name="Text 6"/>
          <p:cNvSpPr/>
          <p:nvPr/>
        </p:nvSpPr>
        <p:spPr>
          <a:xfrm>
            <a:off x="822960" y="2834640"/>
            <a:ext cx="4617720" cy="411480"/>
          </a:xfrm>
          <a:prstGeom prst="rect">
            <a:avLst/>
          </a:prstGeom>
          <a:noFill/>
          <a:ln/>
        </p:spPr>
        <p:txBody>
          <a:bodyPr wrap="square" lIns="0" tIns="0" rIns="0" bIns="0" rtlCol="0" anchor="ctr"/>
          <a:lstStyle/>
          <a:p>
            <a:pPr rtl="1" algn="r" indent="0" marL="0">
              <a:buNone/>
            </a:pPr>
            <a:r>
              <a:rPr lang="en-US" sz="1550" dirty="0">
                <a:solidFill>
                  <a:srgbClr val="9DB0C7"/>
                </a:solidFill>
                <a:latin typeface="Arial" pitchFamily="34" charset="0"/>
                <a:ea typeface="Arial" pitchFamily="34" charset="-122"/>
                <a:cs typeface="Arial" pitchFamily="34" charset="-120"/>
              </a:rPr>
              <a:t>React 19</a:t>
            </a:r>
            <a:endParaRPr lang="en-US" sz="1550" dirty="0"/>
          </a:p>
        </p:txBody>
      </p:sp>
      <p:sp>
        <p:nvSpPr>
          <p:cNvPr id="9" name="Shape 7"/>
          <p:cNvSpPr/>
          <p:nvPr/>
        </p:nvSpPr>
        <p:spPr>
          <a:xfrm>
            <a:off x="5577840" y="3456432"/>
            <a:ext cx="128016" cy="128016"/>
          </a:xfrm>
          <a:prstGeom prst="ellipse">
            <a:avLst/>
          </a:prstGeom>
          <a:solidFill>
            <a:srgbClr val="1CA9DF"/>
          </a:solidFill>
          <a:ln/>
        </p:spPr>
      </p:sp>
      <p:sp>
        <p:nvSpPr>
          <p:cNvPr id="10" name="Text 8"/>
          <p:cNvSpPr/>
          <p:nvPr/>
        </p:nvSpPr>
        <p:spPr>
          <a:xfrm>
            <a:off x="822960" y="3337560"/>
            <a:ext cx="4617720" cy="411480"/>
          </a:xfrm>
          <a:prstGeom prst="rect">
            <a:avLst/>
          </a:prstGeom>
          <a:noFill/>
          <a:ln/>
        </p:spPr>
        <p:txBody>
          <a:bodyPr wrap="square" lIns="0" tIns="0" rIns="0" bIns="0" rtlCol="0" anchor="ctr"/>
          <a:lstStyle/>
          <a:p>
            <a:pPr rtl="1" algn="r" indent="0" marL="0">
              <a:buNone/>
            </a:pPr>
            <a:r>
              <a:rPr lang="en-US" sz="1550" dirty="0">
                <a:solidFill>
                  <a:srgbClr val="9DB0C7"/>
                </a:solidFill>
                <a:latin typeface="Arial" pitchFamily="34" charset="0"/>
                <a:ea typeface="Arial" pitchFamily="34" charset="-122"/>
                <a:cs typeface="Arial" pitchFamily="34" charset="-120"/>
              </a:rPr>
              <a:t>TypeScript</a:t>
            </a:r>
            <a:endParaRPr lang="en-US" sz="1550" dirty="0"/>
          </a:p>
        </p:txBody>
      </p:sp>
      <p:sp>
        <p:nvSpPr>
          <p:cNvPr id="11" name="Shape 9"/>
          <p:cNvSpPr/>
          <p:nvPr/>
        </p:nvSpPr>
        <p:spPr>
          <a:xfrm>
            <a:off x="5577840" y="3959352"/>
            <a:ext cx="128016" cy="128016"/>
          </a:xfrm>
          <a:prstGeom prst="ellipse">
            <a:avLst/>
          </a:prstGeom>
          <a:solidFill>
            <a:srgbClr val="1CA9DF"/>
          </a:solidFill>
          <a:ln/>
        </p:spPr>
      </p:sp>
      <p:sp>
        <p:nvSpPr>
          <p:cNvPr id="12" name="Text 10"/>
          <p:cNvSpPr/>
          <p:nvPr/>
        </p:nvSpPr>
        <p:spPr>
          <a:xfrm>
            <a:off x="822960" y="3840480"/>
            <a:ext cx="4617720" cy="411480"/>
          </a:xfrm>
          <a:prstGeom prst="rect">
            <a:avLst/>
          </a:prstGeom>
          <a:noFill/>
          <a:ln/>
        </p:spPr>
        <p:txBody>
          <a:bodyPr wrap="square" lIns="0" tIns="0" rIns="0" bIns="0" rtlCol="0" anchor="ctr"/>
          <a:lstStyle/>
          <a:p>
            <a:pPr rtl="1" algn="r" indent="0" marL="0">
              <a:buNone/>
            </a:pPr>
            <a:r>
              <a:rPr lang="en-US" sz="1550" dirty="0">
                <a:solidFill>
                  <a:srgbClr val="9DB0C7"/>
                </a:solidFill>
                <a:latin typeface="Arial" pitchFamily="34" charset="0"/>
                <a:ea typeface="Arial" pitchFamily="34" charset="-122"/>
                <a:cs typeface="Arial" pitchFamily="34" charset="-120"/>
              </a:rPr>
              <a:t>MapLibre GL</a:t>
            </a:r>
            <a:endParaRPr lang="en-US" sz="1550" dirty="0"/>
          </a:p>
        </p:txBody>
      </p:sp>
      <p:sp>
        <p:nvSpPr>
          <p:cNvPr id="13" name="Shape 11"/>
          <p:cNvSpPr/>
          <p:nvPr/>
        </p:nvSpPr>
        <p:spPr>
          <a:xfrm>
            <a:off x="5577840" y="4462272"/>
            <a:ext cx="128016" cy="128016"/>
          </a:xfrm>
          <a:prstGeom prst="ellipse">
            <a:avLst/>
          </a:prstGeom>
          <a:solidFill>
            <a:srgbClr val="1CA9DF"/>
          </a:solidFill>
          <a:ln/>
        </p:spPr>
      </p:sp>
      <p:sp>
        <p:nvSpPr>
          <p:cNvPr id="14" name="Text 12"/>
          <p:cNvSpPr/>
          <p:nvPr/>
        </p:nvSpPr>
        <p:spPr>
          <a:xfrm>
            <a:off x="822960" y="4343400"/>
            <a:ext cx="4617720" cy="411480"/>
          </a:xfrm>
          <a:prstGeom prst="rect">
            <a:avLst/>
          </a:prstGeom>
          <a:noFill/>
          <a:ln/>
        </p:spPr>
        <p:txBody>
          <a:bodyPr wrap="square" lIns="0" tIns="0" rIns="0" bIns="0" rtlCol="0" anchor="ctr"/>
          <a:lstStyle/>
          <a:p>
            <a:pPr rtl="1" algn="r" indent="0" marL="0">
              <a:buNone/>
            </a:pPr>
            <a:r>
              <a:rPr lang="en-US" sz="1550" dirty="0">
                <a:solidFill>
                  <a:srgbClr val="9DB0C7"/>
                </a:solidFill>
                <a:latin typeface="Arial" pitchFamily="34" charset="0"/>
                <a:ea typeface="Arial" pitchFamily="34" charset="-122"/>
                <a:cs typeface="Arial" pitchFamily="34" charset="-120"/>
              </a:rPr>
              <a:t>WebGL / GPU</a:t>
            </a:r>
            <a:endParaRPr lang="en-US" sz="1550" dirty="0"/>
          </a:p>
        </p:txBody>
      </p:sp>
      <p:sp>
        <p:nvSpPr>
          <p:cNvPr id="15" name="Shape 13"/>
          <p:cNvSpPr/>
          <p:nvPr/>
        </p:nvSpPr>
        <p:spPr>
          <a:xfrm>
            <a:off x="5577840" y="4965192"/>
            <a:ext cx="128016" cy="128016"/>
          </a:xfrm>
          <a:prstGeom prst="ellipse">
            <a:avLst/>
          </a:prstGeom>
          <a:solidFill>
            <a:srgbClr val="1CA9DF"/>
          </a:solidFill>
          <a:ln/>
        </p:spPr>
      </p:sp>
      <p:sp>
        <p:nvSpPr>
          <p:cNvPr id="16" name="Text 14"/>
          <p:cNvSpPr/>
          <p:nvPr/>
        </p:nvSpPr>
        <p:spPr>
          <a:xfrm>
            <a:off x="822960" y="4846320"/>
            <a:ext cx="4617720" cy="411480"/>
          </a:xfrm>
          <a:prstGeom prst="rect">
            <a:avLst/>
          </a:prstGeom>
          <a:noFill/>
          <a:ln/>
        </p:spPr>
        <p:txBody>
          <a:bodyPr wrap="square" lIns="0" tIns="0" rIns="0" bIns="0" rtlCol="0" anchor="ctr"/>
          <a:lstStyle/>
          <a:p>
            <a:pPr rtl="1" algn="r" indent="0" marL="0">
              <a:buNone/>
            </a:pPr>
            <a:r>
              <a:rPr lang="en-US" sz="1550" dirty="0">
                <a:solidFill>
                  <a:srgbClr val="9DB0C7"/>
                </a:solidFill>
                <a:latin typeface="Arial" pitchFamily="34" charset="0"/>
                <a:ea typeface="Arial" pitchFamily="34" charset="-122"/>
                <a:cs typeface="Arial" pitchFamily="34" charset="-120"/>
              </a:rPr>
              <a:t>Tailwind CSS 4</a:t>
            </a:r>
            <a:endParaRPr lang="en-US" sz="1550" dirty="0"/>
          </a:p>
        </p:txBody>
      </p:sp>
      <p:sp>
        <p:nvSpPr>
          <p:cNvPr id="17" name="Shape 15"/>
          <p:cNvSpPr/>
          <p:nvPr/>
        </p:nvSpPr>
        <p:spPr>
          <a:xfrm>
            <a:off x="6199632" y="1828800"/>
            <a:ext cx="5532120" cy="3657600"/>
          </a:xfrm>
          <a:prstGeom prst="roundRect">
            <a:avLst>
              <a:gd name="adj" fmla="val 2250"/>
            </a:avLst>
          </a:prstGeom>
          <a:solidFill>
            <a:srgbClr val="111B2E"/>
          </a:solidFill>
          <a:ln w="12700">
            <a:solidFill>
              <a:srgbClr val="243349"/>
            </a:solidFill>
            <a:prstDash val="solid"/>
          </a:ln>
          <a:effectLst>
            <a:outerShdw sx="100000" sy="100000" kx="0" ky="0" algn="bl" rotWithShape="0" blurRad="114300" dist="38100" dir="5400000">
              <a:srgbClr val="000000">
                <a:alpha val="28000"/>
              </a:srgbClr>
            </a:outerShdw>
          </a:effectLst>
        </p:spPr>
      </p:sp>
      <p:sp>
        <p:nvSpPr>
          <p:cNvPr id="18" name="Shape 16"/>
          <p:cNvSpPr/>
          <p:nvPr/>
        </p:nvSpPr>
        <p:spPr>
          <a:xfrm>
            <a:off x="10863072" y="2057400"/>
            <a:ext cx="502920" cy="502920"/>
          </a:xfrm>
          <a:prstGeom prst="ellipse">
            <a:avLst/>
          </a:prstGeom>
          <a:solidFill>
            <a:srgbClr val="2B3A8C"/>
          </a:solidFill>
          <a:ln/>
        </p:spPr>
      </p:sp>
      <p:sp>
        <p:nvSpPr>
          <p:cNvPr id="19" name="Text 17"/>
          <p:cNvSpPr/>
          <p:nvPr/>
        </p:nvSpPr>
        <p:spPr>
          <a:xfrm>
            <a:off x="6473952" y="2084832"/>
            <a:ext cx="4343400" cy="457200"/>
          </a:xfrm>
          <a:prstGeom prst="rect">
            <a:avLst/>
          </a:prstGeom>
          <a:noFill/>
          <a:ln/>
        </p:spPr>
        <p:txBody>
          <a:bodyPr wrap="square" lIns="0" tIns="0" rIns="0" bIns="0" rtlCol="0" anchor="ctr"/>
          <a:lstStyle/>
          <a:p>
            <a:pPr rtl="1" algn="r" indent="0" marL="0">
              <a:buNone/>
            </a:pPr>
            <a:r>
              <a:rPr lang="en-US" sz="2000" b="1" dirty="0">
                <a:solidFill>
                  <a:srgbClr val="E8EEF6"/>
                </a:solidFill>
                <a:latin typeface="Arial" pitchFamily="34" charset="0"/>
                <a:ea typeface="Arial" pitchFamily="34" charset="-122"/>
                <a:cs typeface="Arial" pitchFamily="34" charset="-120"/>
              </a:rPr>
              <a:t>الخلفية</a:t>
            </a:r>
            <a:endParaRPr lang="en-US" sz="2000" dirty="0"/>
          </a:p>
        </p:txBody>
      </p:sp>
      <p:sp>
        <p:nvSpPr>
          <p:cNvPr id="20" name="Shape 18"/>
          <p:cNvSpPr/>
          <p:nvPr/>
        </p:nvSpPr>
        <p:spPr>
          <a:xfrm>
            <a:off x="11228832" y="2953512"/>
            <a:ext cx="128016" cy="128016"/>
          </a:xfrm>
          <a:prstGeom prst="ellipse">
            <a:avLst/>
          </a:prstGeom>
          <a:solidFill>
            <a:srgbClr val="1CA9DF"/>
          </a:solidFill>
          <a:ln/>
        </p:spPr>
      </p:sp>
      <p:sp>
        <p:nvSpPr>
          <p:cNvPr id="21" name="Text 19"/>
          <p:cNvSpPr/>
          <p:nvPr/>
        </p:nvSpPr>
        <p:spPr>
          <a:xfrm>
            <a:off x="6473952" y="2834640"/>
            <a:ext cx="4617720" cy="411480"/>
          </a:xfrm>
          <a:prstGeom prst="rect">
            <a:avLst/>
          </a:prstGeom>
          <a:noFill/>
          <a:ln/>
        </p:spPr>
        <p:txBody>
          <a:bodyPr wrap="square" lIns="0" tIns="0" rIns="0" bIns="0" rtlCol="0" anchor="ctr"/>
          <a:lstStyle/>
          <a:p>
            <a:pPr rtl="1" algn="r" indent="0" marL="0">
              <a:buNone/>
            </a:pPr>
            <a:r>
              <a:rPr lang="en-US" sz="1550" dirty="0">
                <a:solidFill>
                  <a:srgbClr val="9DB0C7"/>
                </a:solidFill>
                <a:latin typeface="Arial" pitchFamily="34" charset="0"/>
                <a:ea typeface="Arial" pitchFamily="34" charset="-122"/>
                <a:cs typeface="Arial" pitchFamily="34" charset="-120"/>
              </a:rPr>
              <a:t>Laravel (PHP)</a:t>
            </a:r>
            <a:endParaRPr lang="en-US" sz="1550" dirty="0"/>
          </a:p>
        </p:txBody>
      </p:sp>
      <p:sp>
        <p:nvSpPr>
          <p:cNvPr id="22" name="Shape 20"/>
          <p:cNvSpPr/>
          <p:nvPr/>
        </p:nvSpPr>
        <p:spPr>
          <a:xfrm>
            <a:off x="11228832" y="3456432"/>
            <a:ext cx="128016" cy="128016"/>
          </a:xfrm>
          <a:prstGeom prst="ellipse">
            <a:avLst/>
          </a:prstGeom>
          <a:solidFill>
            <a:srgbClr val="1CA9DF"/>
          </a:solidFill>
          <a:ln/>
        </p:spPr>
      </p:sp>
      <p:sp>
        <p:nvSpPr>
          <p:cNvPr id="23" name="Text 21"/>
          <p:cNvSpPr/>
          <p:nvPr/>
        </p:nvSpPr>
        <p:spPr>
          <a:xfrm>
            <a:off x="6473952" y="3337560"/>
            <a:ext cx="4617720" cy="411480"/>
          </a:xfrm>
          <a:prstGeom prst="rect">
            <a:avLst/>
          </a:prstGeom>
          <a:noFill/>
          <a:ln/>
        </p:spPr>
        <p:txBody>
          <a:bodyPr wrap="square" lIns="0" tIns="0" rIns="0" bIns="0" rtlCol="0" anchor="ctr"/>
          <a:lstStyle/>
          <a:p>
            <a:pPr rtl="1" algn="r" indent="0" marL="0">
              <a:buNone/>
            </a:pPr>
            <a:r>
              <a:rPr lang="en-US" sz="1550" dirty="0">
                <a:solidFill>
                  <a:srgbClr val="9DB0C7"/>
                </a:solidFill>
                <a:latin typeface="Arial" pitchFamily="34" charset="0"/>
                <a:ea typeface="Arial" pitchFamily="34" charset="-122"/>
                <a:cs typeface="Arial" pitchFamily="34" charset="-120"/>
              </a:rPr>
              <a:t>طبقة Proxy + Cache ذكية</a:t>
            </a:r>
            <a:endParaRPr lang="en-US" sz="1550" dirty="0"/>
          </a:p>
        </p:txBody>
      </p:sp>
      <p:sp>
        <p:nvSpPr>
          <p:cNvPr id="24" name="Shape 22"/>
          <p:cNvSpPr/>
          <p:nvPr/>
        </p:nvSpPr>
        <p:spPr>
          <a:xfrm>
            <a:off x="11228832" y="3959352"/>
            <a:ext cx="128016" cy="128016"/>
          </a:xfrm>
          <a:prstGeom prst="ellipse">
            <a:avLst/>
          </a:prstGeom>
          <a:solidFill>
            <a:srgbClr val="1CA9DF"/>
          </a:solidFill>
          <a:ln/>
        </p:spPr>
      </p:sp>
      <p:sp>
        <p:nvSpPr>
          <p:cNvPr id="25" name="Text 23"/>
          <p:cNvSpPr/>
          <p:nvPr/>
        </p:nvSpPr>
        <p:spPr>
          <a:xfrm>
            <a:off x="6473952" y="3840480"/>
            <a:ext cx="4617720" cy="411480"/>
          </a:xfrm>
          <a:prstGeom prst="rect">
            <a:avLst/>
          </a:prstGeom>
          <a:noFill/>
          <a:ln/>
        </p:spPr>
        <p:txBody>
          <a:bodyPr wrap="square" lIns="0" tIns="0" rIns="0" bIns="0" rtlCol="0" anchor="ctr"/>
          <a:lstStyle/>
          <a:p>
            <a:pPr rtl="1" algn="r" indent="0" marL="0">
              <a:buNone/>
            </a:pPr>
            <a:r>
              <a:rPr lang="en-US" sz="1550" dirty="0">
                <a:solidFill>
                  <a:srgbClr val="9DB0C7"/>
                </a:solidFill>
                <a:latin typeface="Arial" pitchFamily="34" charset="0"/>
                <a:ea typeface="Arial" pitchFamily="34" charset="-122"/>
                <a:cs typeface="Arial" pitchFamily="34" charset="-120"/>
              </a:rPr>
              <a:t>‏9 خدمات مستقلة</a:t>
            </a:r>
            <a:endParaRPr lang="en-US" sz="1550" dirty="0"/>
          </a:p>
        </p:txBody>
      </p:sp>
      <p:sp>
        <p:nvSpPr>
          <p:cNvPr id="26" name="Shape 24"/>
          <p:cNvSpPr/>
          <p:nvPr/>
        </p:nvSpPr>
        <p:spPr>
          <a:xfrm>
            <a:off x="11228832" y="4462272"/>
            <a:ext cx="128016" cy="128016"/>
          </a:xfrm>
          <a:prstGeom prst="ellipse">
            <a:avLst/>
          </a:prstGeom>
          <a:solidFill>
            <a:srgbClr val="1CA9DF"/>
          </a:solidFill>
          <a:ln/>
        </p:spPr>
      </p:sp>
      <p:sp>
        <p:nvSpPr>
          <p:cNvPr id="27" name="Text 25"/>
          <p:cNvSpPr/>
          <p:nvPr/>
        </p:nvSpPr>
        <p:spPr>
          <a:xfrm>
            <a:off x="6473952" y="4343400"/>
            <a:ext cx="4617720" cy="411480"/>
          </a:xfrm>
          <a:prstGeom prst="rect">
            <a:avLst/>
          </a:prstGeom>
          <a:noFill/>
          <a:ln/>
        </p:spPr>
        <p:txBody>
          <a:bodyPr wrap="square" lIns="0" tIns="0" rIns="0" bIns="0" rtlCol="0" anchor="ctr"/>
          <a:lstStyle/>
          <a:p>
            <a:pPr rtl="1" algn="r" indent="0" marL="0">
              <a:buNone/>
            </a:pPr>
            <a:r>
              <a:rPr lang="en-US" sz="1550" dirty="0">
                <a:solidFill>
                  <a:srgbClr val="9DB0C7"/>
                </a:solidFill>
                <a:latin typeface="Arial" pitchFamily="34" charset="0"/>
                <a:ea typeface="Arial" pitchFamily="34" charset="-122"/>
                <a:cs typeface="Arial" pitchFamily="34" charset="-120"/>
              </a:rPr>
              <a:t>Stale-while-revalidate</a:t>
            </a:r>
            <a:endParaRPr lang="en-US" sz="1550" dirty="0"/>
          </a:p>
        </p:txBody>
      </p:sp>
      <p:sp>
        <p:nvSpPr>
          <p:cNvPr id="28" name="Shape 26"/>
          <p:cNvSpPr/>
          <p:nvPr/>
        </p:nvSpPr>
        <p:spPr>
          <a:xfrm>
            <a:off x="11228832" y="4965192"/>
            <a:ext cx="128016" cy="128016"/>
          </a:xfrm>
          <a:prstGeom prst="ellipse">
            <a:avLst/>
          </a:prstGeom>
          <a:solidFill>
            <a:srgbClr val="1CA9DF"/>
          </a:solidFill>
          <a:ln/>
        </p:spPr>
      </p:sp>
      <p:sp>
        <p:nvSpPr>
          <p:cNvPr id="29" name="Text 27"/>
          <p:cNvSpPr/>
          <p:nvPr/>
        </p:nvSpPr>
        <p:spPr>
          <a:xfrm>
            <a:off x="6473952" y="4846320"/>
            <a:ext cx="4617720" cy="411480"/>
          </a:xfrm>
          <a:prstGeom prst="rect">
            <a:avLst/>
          </a:prstGeom>
          <a:noFill/>
          <a:ln/>
        </p:spPr>
        <p:txBody>
          <a:bodyPr wrap="square" lIns="0" tIns="0" rIns="0" bIns="0" rtlCol="0" anchor="ctr"/>
          <a:lstStyle/>
          <a:p>
            <a:pPr rtl="1" algn="r" indent="0" marL="0">
              <a:buNone/>
            </a:pPr>
            <a:r>
              <a:rPr lang="en-US" sz="1550" dirty="0">
                <a:solidFill>
                  <a:srgbClr val="9DB0C7"/>
                </a:solidFill>
                <a:latin typeface="Arial" pitchFamily="34" charset="0"/>
                <a:ea typeface="Arial" pitchFamily="34" charset="-122"/>
                <a:cs typeface="Arial" pitchFamily="34" charset="-120"/>
              </a:rPr>
              <a:t>معمارية نظيفة قابلة للتوسّع</a:t>
            </a:r>
            <a:endParaRPr lang="en-US" sz="1550" dirty="0"/>
          </a:p>
        </p:txBody>
      </p:sp>
      <p:sp>
        <p:nvSpPr>
          <p:cNvPr id="30" name="Text 28"/>
          <p:cNvSpPr/>
          <p:nvPr/>
        </p:nvSpPr>
        <p:spPr>
          <a:xfrm>
            <a:off x="548640" y="5806440"/>
            <a:ext cx="11064240" cy="457200"/>
          </a:xfrm>
          <a:prstGeom prst="rect">
            <a:avLst/>
          </a:prstGeom>
          <a:noFill/>
          <a:ln/>
        </p:spPr>
        <p:txBody>
          <a:bodyPr wrap="square" lIns="0" tIns="0" rIns="0" bIns="0" rtlCol="0" anchor="ctr"/>
          <a:lstStyle/>
          <a:p>
            <a:pPr rtl="1" algn="ctr" indent="0" marL="0">
              <a:buNone/>
            </a:pPr>
            <a:r>
              <a:rPr lang="en-US" sz="1500" b="1" dirty="0">
                <a:solidFill>
                  <a:srgbClr val="1CA9DF"/>
                </a:solidFill>
                <a:latin typeface="Arial" pitchFamily="34" charset="0"/>
                <a:ea typeface="Arial" pitchFamily="34" charset="-122"/>
                <a:cs typeface="Arial" pitchFamily="34" charset="-120"/>
              </a:rPr>
              <a:t>≈ 16,000 سطر كود إنتاجي فعلي — مشروع مكتمل يعمل الآن</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502920"/>
            <a:ext cx="11064240" cy="365760"/>
          </a:xfrm>
          <a:prstGeom prst="rect">
            <a:avLst/>
          </a:prstGeom>
          <a:noFill/>
          <a:ln/>
        </p:spPr>
        <p:txBody>
          <a:bodyPr wrap="square" lIns="0" tIns="0" rIns="0" bIns="0" rtlCol="0" anchor="ctr"/>
          <a:lstStyle/>
          <a:p>
            <a:pPr rtl="1" algn="r" indent="0" marL="0">
              <a:buNone/>
            </a:pPr>
            <a:r>
              <a:rPr lang="en-US" sz="1400" b="1" spc="200" kern="0" dirty="0">
                <a:solidFill>
                  <a:srgbClr val="1CA9DF"/>
                </a:solidFill>
                <a:latin typeface="Arial" pitchFamily="34" charset="0"/>
                <a:ea typeface="Arial" pitchFamily="34" charset="-122"/>
                <a:cs typeface="Arial" pitchFamily="34" charset="-120"/>
              </a:rPr>
              <a:t>آلية العمل</a:t>
            </a:r>
            <a:endParaRPr lang="en-US" sz="1400" dirty="0"/>
          </a:p>
        </p:txBody>
      </p:sp>
      <p:sp>
        <p:nvSpPr>
          <p:cNvPr id="3" name="Text 1"/>
          <p:cNvSpPr/>
          <p:nvPr/>
        </p:nvSpPr>
        <p:spPr>
          <a:xfrm>
            <a:off x="548640" y="868680"/>
            <a:ext cx="11064240" cy="822960"/>
          </a:xfrm>
          <a:prstGeom prst="rect">
            <a:avLst/>
          </a:prstGeom>
          <a:noFill/>
          <a:ln/>
        </p:spPr>
        <p:txBody>
          <a:bodyPr wrap="square" lIns="0" tIns="0" rIns="0" bIns="0" rtlCol="0" anchor="ctr"/>
          <a:lstStyle/>
          <a:p>
            <a:pPr rtl="1" algn="r" indent="0" marL="0">
              <a:buNone/>
            </a:pPr>
            <a:r>
              <a:rPr lang="en-US" sz="3400" b="1" dirty="0">
                <a:solidFill>
                  <a:srgbClr val="E8EEF6"/>
                </a:solidFill>
                <a:latin typeface="Cambria" pitchFamily="34" charset="0"/>
                <a:ea typeface="Cambria" pitchFamily="34" charset="-122"/>
                <a:cs typeface="Cambria" pitchFamily="34" charset="-120"/>
              </a:rPr>
              <a:t>من البيانات العالمية إلى شاشتك</a:t>
            </a:r>
            <a:endParaRPr lang="en-US" sz="3400" dirty="0"/>
          </a:p>
        </p:txBody>
      </p:sp>
      <p:sp>
        <p:nvSpPr>
          <p:cNvPr id="4" name="Shape 2"/>
          <p:cNvSpPr/>
          <p:nvPr/>
        </p:nvSpPr>
        <p:spPr>
          <a:xfrm>
            <a:off x="9037015" y="2194560"/>
            <a:ext cx="2606040" cy="2651760"/>
          </a:xfrm>
          <a:prstGeom prst="roundRect">
            <a:avLst>
              <a:gd name="adj" fmla="val 3158"/>
            </a:avLst>
          </a:prstGeom>
          <a:solidFill>
            <a:srgbClr val="111B2E"/>
          </a:solidFill>
          <a:ln w="12700">
            <a:solidFill>
              <a:srgbClr val="243349"/>
            </a:solidFill>
            <a:prstDash val="solid"/>
          </a:ln>
          <a:effectLst>
            <a:outerShdw sx="100000" sy="100000" kx="0" ky="0" algn="bl" rotWithShape="0" blurRad="114300" dist="38100" dir="5400000">
              <a:srgbClr val="000000">
                <a:alpha val="28000"/>
              </a:srgbClr>
            </a:outerShdw>
          </a:effectLst>
        </p:spPr>
      </p:sp>
      <p:sp>
        <p:nvSpPr>
          <p:cNvPr id="5" name="Shape 3"/>
          <p:cNvSpPr/>
          <p:nvPr/>
        </p:nvSpPr>
        <p:spPr>
          <a:xfrm>
            <a:off x="9928555" y="2468880"/>
            <a:ext cx="822960" cy="822960"/>
          </a:xfrm>
          <a:prstGeom prst="ellipse">
            <a:avLst/>
          </a:prstGeom>
          <a:solidFill>
            <a:srgbClr val="2B3A8C"/>
          </a:solidFill>
          <a:ln/>
        </p:spPr>
      </p:sp>
      <p:pic>
        <p:nvPicPr>
          <p:cNvPr id="6" name="Image 0" descr="preencoded.png">    </p:cNvPr>
          <p:cNvPicPr>
            <a:picLocks noChangeAspect="1"/>
          </p:cNvPicPr>
          <p:nvPr/>
        </p:nvPicPr>
        <p:blipFill>
          <a:blip r:embed="rId1"/>
          <a:stretch>
            <a:fillRect/>
          </a:stretch>
        </p:blipFill>
        <p:spPr>
          <a:xfrm>
            <a:off x="10093147" y="2633472"/>
            <a:ext cx="493776" cy="493776"/>
          </a:xfrm>
          <a:prstGeom prst="rect">
            <a:avLst/>
          </a:prstGeom>
        </p:spPr>
      </p:pic>
      <p:sp>
        <p:nvSpPr>
          <p:cNvPr id="7" name="Text 4"/>
          <p:cNvSpPr/>
          <p:nvPr/>
        </p:nvSpPr>
        <p:spPr>
          <a:xfrm>
            <a:off x="9037015" y="3383280"/>
            <a:ext cx="2606040" cy="365760"/>
          </a:xfrm>
          <a:prstGeom prst="rect">
            <a:avLst/>
          </a:prstGeom>
          <a:noFill/>
          <a:ln/>
        </p:spPr>
        <p:txBody>
          <a:bodyPr wrap="square" lIns="0" tIns="0" rIns="0" bIns="0" rtlCol="0" anchor="ctr"/>
          <a:lstStyle/>
          <a:p>
            <a:pPr algn="ctr" indent="0" marL="0">
              <a:buNone/>
            </a:pPr>
            <a:r>
              <a:rPr lang="en-US" sz="1600" b="1" dirty="0">
                <a:solidFill>
                  <a:srgbClr val="1CA9DF"/>
                </a:solidFill>
                <a:latin typeface="Cambria" pitchFamily="34" charset="0"/>
                <a:ea typeface="Cambria" pitchFamily="34" charset="-122"/>
                <a:cs typeface="Cambria" pitchFamily="34" charset="-120"/>
              </a:rPr>
              <a:t>‏1</a:t>
            </a:r>
            <a:endParaRPr lang="en-US" sz="1600" dirty="0"/>
          </a:p>
        </p:txBody>
      </p:sp>
      <p:sp>
        <p:nvSpPr>
          <p:cNvPr id="8" name="Text 5"/>
          <p:cNvSpPr/>
          <p:nvPr/>
        </p:nvSpPr>
        <p:spPr>
          <a:xfrm>
            <a:off x="9146743" y="3703320"/>
            <a:ext cx="2386584" cy="411480"/>
          </a:xfrm>
          <a:prstGeom prst="rect">
            <a:avLst/>
          </a:prstGeom>
          <a:noFill/>
          <a:ln/>
        </p:spPr>
        <p:txBody>
          <a:bodyPr wrap="square" lIns="0" tIns="0" rIns="0" bIns="0" rtlCol="0" anchor="ctr"/>
          <a:lstStyle/>
          <a:p>
            <a:pPr rtl="1" algn="ctr" indent="0" marL="0">
              <a:buNone/>
            </a:pPr>
            <a:r>
              <a:rPr lang="en-US" sz="1600" b="1" dirty="0">
                <a:solidFill>
                  <a:srgbClr val="E8EEF6"/>
                </a:solidFill>
                <a:latin typeface="Arial" pitchFamily="34" charset="0"/>
                <a:ea typeface="Arial" pitchFamily="34" charset="-122"/>
                <a:cs typeface="Arial" pitchFamily="34" charset="-120"/>
              </a:rPr>
              <a:t>مصادر عالمية</a:t>
            </a:r>
            <a:endParaRPr lang="en-US" sz="1600" dirty="0"/>
          </a:p>
        </p:txBody>
      </p:sp>
      <p:sp>
        <p:nvSpPr>
          <p:cNvPr id="9" name="Text 6"/>
          <p:cNvSpPr/>
          <p:nvPr/>
        </p:nvSpPr>
        <p:spPr>
          <a:xfrm>
            <a:off x="9174175" y="4114800"/>
            <a:ext cx="2331720" cy="685800"/>
          </a:xfrm>
          <a:prstGeom prst="rect">
            <a:avLst/>
          </a:prstGeom>
          <a:noFill/>
          <a:ln/>
        </p:spPr>
        <p:txBody>
          <a:bodyPr wrap="square" lIns="0" tIns="0" rIns="0" bIns="0" rtlCol="0" anchor="t"/>
          <a:lstStyle/>
          <a:p>
            <a:pPr rtl="1" algn="ctr" indent="0" marL="0">
              <a:lnSpc>
                <a:spcPct val="115000"/>
              </a:lnSpc>
              <a:buNone/>
            </a:pPr>
            <a:r>
              <a:rPr lang="en-US" sz="1200" dirty="0">
                <a:solidFill>
                  <a:srgbClr val="9DB0C7"/>
                </a:solidFill>
                <a:latin typeface="Arial" pitchFamily="34" charset="0"/>
                <a:ea typeface="Arial" pitchFamily="34" charset="-122"/>
                <a:cs typeface="Arial" pitchFamily="34" charset="-120"/>
              </a:rPr>
              <a:t>نماذج NOAA GFS و DWD ICON عبر مزوّدات مفتوحة</a:t>
            </a:r>
            <a:endParaRPr lang="en-US" sz="1200" dirty="0"/>
          </a:p>
        </p:txBody>
      </p:sp>
      <p:pic>
        <p:nvPicPr>
          <p:cNvPr id="10" name="Image 1" descr="preencoded.png">    </p:cNvPr>
          <p:cNvPicPr>
            <a:picLocks noChangeAspect="1"/>
          </p:cNvPicPr>
          <p:nvPr/>
        </p:nvPicPr>
        <p:blipFill>
          <a:blip r:embed="rId2"/>
          <a:stretch>
            <a:fillRect/>
          </a:stretch>
        </p:blipFill>
        <p:spPr>
          <a:xfrm>
            <a:off x="8779002" y="3246120"/>
            <a:ext cx="274320" cy="274320"/>
          </a:xfrm>
          <a:prstGeom prst="rect">
            <a:avLst/>
          </a:prstGeom>
        </p:spPr>
      </p:pic>
      <p:sp>
        <p:nvSpPr>
          <p:cNvPr id="11" name="Shape 7"/>
          <p:cNvSpPr/>
          <p:nvPr/>
        </p:nvSpPr>
        <p:spPr>
          <a:xfrm>
            <a:off x="6207557" y="2194560"/>
            <a:ext cx="2606040" cy="2651760"/>
          </a:xfrm>
          <a:prstGeom prst="roundRect">
            <a:avLst>
              <a:gd name="adj" fmla="val 3158"/>
            </a:avLst>
          </a:prstGeom>
          <a:solidFill>
            <a:srgbClr val="111B2E"/>
          </a:solidFill>
          <a:ln w="12700">
            <a:solidFill>
              <a:srgbClr val="243349"/>
            </a:solidFill>
            <a:prstDash val="solid"/>
          </a:ln>
          <a:effectLst>
            <a:outerShdw sx="100000" sy="100000" kx="0" ky="0" algn="bl" rotWithShape="0" blurRad="114300" dist="38100" dir="5400000">
              <a:srgbClr val="000000">
                <a:alpha val="28000"/>
              </a:srgbClr>
            </a:outerShdw>
          </a:effectLst>
        </p:spPr>
      </p:sp>
      <p:sp>
        <p:nvSpPr>
          <p:cNvPr id="12" name="Shape 8"/>
          <p:cNvSpPr/>
          <p:nvPr/>
        </p:nvSpPr>
        <p:spPr>
          <a:xfrm>
            <a:off x="7099097" y="2468880"/>
            <a:ext cx="822960" cy="822960"/>
          </a:xfrm>
          <a:prstGeom prst="ellipse">
            <a:avLst/>
          </a:prstGeom>
          <a:solidFill>
            <a:srgbClr val="2B3A8C"/>
          </a:solidFill>
          <a:ln/>
        </p:spPr>
      </p:sp>
      <p:pic>
        <p:nvPicPr>
          <p:cNvPr id="13" name="Image 2" descr="preencoded.png">    </p:cNvPr>
          <p:cNvPicPr>
            <a:picLocks noChangeAspect="1"/>
          </p:cNvPicPr>
          <p:nvPr/>
        </p:nvPicPr>
        <p:blipFill>
          <a:blip r:embed="rId3"/>
          <a:stretch>
            <a:fillRect/>
          </a:stretch>
        </p:blipFill>
        <p:spPr>
          <a:xfrm>
            <a:off x="7263689" y="2633472"/>
            <a:ext cx="493776" cy="493776"/>
          </a:xfrm>
          <a:prstGeom prst="rect">
            <a:avLst/>
          </a:prstGeom>
        </p:spPr>
      </p:pic>
      <p:sp>
        <p:nvSpPr>
          <p:cNvPr id="14" name="Text 9"/>
          <p:cNvSpPr/>
          <p:nvPr/>
        </p:nvSpPr>
        <p:spPr>
          <a:xfrm>
            <a:off x="6207557" y="3383280"/>
            <a:ext cx="2606040" cy="365760"/>
          </a:xfrm>
          <a:prstGeom prst="rect">
            <a:avLst/>
          </a:prstGeom>
          <a:noFill/>
          <a:ln/>
        </p:spPr>
        <p:txBody>
          <a:bodyPr wrap="square" lIns="0" tIns="0" rIns="0" bIns="0" rtlCol="0" anchor="ctr"/>
          <a:lstStyle/>
          <a:p>
            <a:pPr algn="ctr" indent="0" marL="0">
              <a:buNone/>
            </a:pPr>
            <a:r>
              <a:rPr lang="en-US" sz="1600" b="1" dirty="0">
                <a:solidFill>
                  <a:srgbClr val="1CA9DF"/>
                </a:solidFill>
                <a:latin typeface="Cambria" pitchFamily="34" charset="0"/>
                <a:ea typeface="Cambria" pitchFamily="34" charset="-122"/>
                <a:cs typeface="Cambria" pitchFamily="34" charset="-120"/>
              </a:rPr>
              <a:t>‏2</a:t>
            </a:r>
            <a:endParaRPr lang="en-US" sz="1600" dirty="0"/>
          </a:p>
        </p:txBody>
      </p:sp>
      <p:sp>
        <p:nvSpPr>
          <p:cNvPr id="15" name="Text 10"/>
          <p:cNvSpPr/>
          <p:nvPr/>
        </p:nvSpPr>
        <p:spPr>
          <a:xfrm>
            <a:off x="6317285" y="3703320"/>
            <a:ext cx="2386584" cy="411480"/>
          </a:xfrm>
          <a:prstGeom prst="rect">
            <a:avLst/>
          </a:prstGeom>
          <a:noFill/>
          <a:ln/>
        </p:spPr>
        <p:txBody>
          <a:bodyPr wrap="square" lIns="0" tIns="0" rIns="0" bIns="0" rtlCol="0" anchor="ctr"/>
          <a:lstStyle/>
          <a:p>
            <a:pPr rtl="1" algn="ctr" indent="0" marL="0">
              <a:buNone/>
            </a:pPr>
            <a:r>
              <a:rPr lang="en-US" sz="1600" b="1" dirty="0">
                <a:solidFill>
                  <a:srgbClr val="E8EEF6"/>
                </a:solidFill>
                <a:latin typeface="Arial" pitchFamily="34" charset="0"/>
                <a:ea typeface="Arial" pitchFamily="34" charset="-122"/>
                <a:cs typeface="Arial" pitchFamily="34" charset="-120"/>
              </a:rPr>
              <a:t>خادم Laravel</a:t>
            </a:r>
            <a:endParaRPr lang="en-US" sz="1600" dirty="0"/>
          </a:p>
        </p:txBody>
      </p:sp>
      <p:sp>
        <p:nvSpPr>
          <p:cNvPr id="16" name="Text 11"/>
          <p:cNvSpPr/>
          <p:nvPr/>
        </p:nvSpPr>
        <p:spPr>
          <a:xfrm>
            <a:off x="6344717" y="4114800"/>
            <a:ext cx="2331720" cy="685800"/>
          </a:xfrm>
          <a:prstGeom prst="rect">
            <a:avLst/>
          </a:prstGeom>
          <a:noFill/>
          <a:ln/>
        </p:spPr>
        <p:txBody>
          <a:bodyPr wrap="square" lIns="0" tIns="0" rIns="0" bIns="0" rtlCol="0" anchor="t"/>
          <a:lstStyle/>
          <a:p>
            <a:pPr rtl="1" algn="ctr" indent="0" marL="0">
              <a:lnSpc>
                <a:spcPct val="115000"/>
              </a:lnSpc>
              <a:buNone/>
            </a:pPr>
            <a:r>
              <a:rPr lang="en-US" sz="1200" dirty="0">
                <a:solidFill>
                  <a:srgbClr val="9DB0C7"/>
                </a:solidFill>
                <a:latin typeface="Arial" pitchFamily="34" charset="0"/>
                <a:ea typeface="Arial" pitchFamily="34" charset="-122"/>
                <a:cs typeface="Arial" pitchFamily="34" charset="-120"/>
              </a:rPr>
              <a:t>يبني الشبكة ويخزّنها مؤقتاً بذكاء</a:t>
            </a:r>
            <a:endParaRPr lang="en-US" sz="1200" dirty="0"/>
          </a:p>
        </p:txBody>
      </p:sp>
      <p:pic>
        <p:nvPicPr>
          <p:cNvPr id="17" name="Image 3" descr="preencoded.png">    </p:cNvPr>
          <p:cNvPicPr>
            <a:picLocks noChangeAspect="1"/>
          </p:cNvPicPr>
          <p:nvPr/>
        </p:nvPicPr>
        <p:blipFill>
          <a:blip r:embed="rId4"/>
          <a:stretch>
            <a:fillRect/>
          </a:stretch>
        </p:blipFill>
        <p:spPr>
          <a:xfrm>
            <a:off x="5949544" y="3246120"/>
            <a:ext cx="274320" cy="274320"/>
          </a:xfrm>
          <a:prstGeom prst="rect">
            <a:avLst/>
          </a:prstGeom>
        </p:spPr>
      </p:pic>
      <p:sp>
        <p:nvSpPr>
          <p:cNvPr id="18" name="Shape 12"/>
          <p:cNvSpPr/>
          <p:nvPr/>
        </p:nvSpPr>
        <p:spPr>
          <a:xfrm>
            <a:off x="3378098" y="2194560"/>
            <a:ext cx="2606040" cy="2651760"/>
          </a:xfrm>
          <a:prstGeom prst="roundRect">
            <a:avLst>
              <a:gd name="adj" fmla="val 3158"/>
            </a:avLst>
          </a:prstGeom>
          <a:solidFill>
            <a:srgbClr val="111B2E"/>
          </a:solidFill>
          <a:ln w="12700">
            <a:solidFill>
              <a:srgbClr val="243349"/>
            </a:solidFill>
            <a:prstDash val="solid"/>
          </a:ln>
          <a:effectLst>
            <a:outerShdw sx="100000" sy="100000" kx="0" ky="0" algn="bl" rotWithShape="0" blurRad="114300" dist="38100" dir="5400000">
              <a:srgbClr val="000000">
                <a:alpha val="28000"/>
              </a:srgbClr>
            </a:outerShdw>
          </a:effectLst>
        </p:spPr>
      </p:sp>
      <p:sp>
        <p:nvSpPr>
          <p:cNvPr id="19" name="Shape 13"/>
          <p:cNvSpPr/>
          <p:nvPr/>
        </p:nvSpPr>
        <p:spPr>
          <a:xfrm>
            <a:off x="4269638" y="2468880"/>
            <a:ext cx="822960" cy="822960"/>
          </a:xfrm>
          <a:prstGeom prst="ellipse">
            <a:avLst/>
          </a:prstGeom>
          <a:solidFill>
            <a:srgbClr val="2B3A8C"/>
          </a:solidFill>
          <a:ln/>
        </p:spPr>
      </p:sp>
      <p:pic>
        <p:nvPicPr>
          <p:cNvPr id="20" name="Image 4" descr="preencoded.png">    </p:cNvPr>
          <p:cNvPicPr>
            <a:picLocks noChangeAspect="1"/>
          </p:cNvPicPr>
          <p:nvPr/>
        </p:nvPicPr>
        <p:blipFill>
          <a:blip r:embed="rId5"/>
          <a:stretch>
            <a:fillRect/>
          </a:stretch>
        </p:blipFill>
        <p:spPr>
          <a:xfrm>
            <a:off x="4434230" y="2633472"/>
            <a:ext cx="493776" cy="493776"/>
          </a:xfrm>
          <a:prstGeom prst="rect">
            <a:avLst/>
          </a:prstGeom>
        </p:spPr>
      </p:pic>
      <p:sp>
        <p:nvSpPr>
          <p:cNvPr id="21" name="Text 14"/>
          <p:cNvSpPr/>
          <p:nvPr/>
        </p:nvSpPr>
        <p:spPr>
          <a:xfrm>
            <a:off x="3378098" y="3383280"/>
            <a:ext cx="2606040" cy="365760"/>
          </a:xfrm>
          <a:prstGeom prst="rect">
            <a:avLst/>
          </a:prstGeom>
          <a:noFill/>
          <a:ln/>
        </p:spPr>
        <p:txBody>
          <a:bodyPr wrap="square" lIns="0" tIns="0" rIns="0" bIns="0" rtlCol="0" anchor="ctr"/>
          <a:lstStyle/>
          <a:p>
            <a:pPr algn="ctr" indent="0" marL="0">
              <a:buNone/>
            </a:pPr>
            <a:r>
              <a:rPr lang="en-US" sz="1600" b="1" dirty="0">
                <a:solidFill>
                  <a:srgbClr val="1CA9DF"/>
                </a:solidFill>
                <a:latin typeface="Cambria" pitchFamily="34" charset="0"/>
                <a:ea typeface="Cambria" pitchFamily="34" charset="-122"/>
                <a:cs typeface="Cambria" pitchFamily="34" charset="-120"/>
              </a:rPr>
              <a:t>‏3</a:t>
            </a:r>
            <a:endParaRPr lang="en-US" sz="1600" dirty="0"/>
          </a:p>
        </p:txBody>
      </p:sp>
      <p:sp>
        <p:nvSpPr>
          <p:cNvPr id="22" name="Text 15"/>
          <p:cNvSpPr/>
          <p:nvPr/>
        </p:nvSpPr>
        <p:spPr>
          <a:xfrm>
            <a:off x="3487826" y="3703320"/>
            <a:ext cx="2386584" cy="411480"/>
          </a:xfrm>
          <a:prstGeom prst="rect">
            <a:avLst/>
          </a:prstGeom>
          <a:noFill/>
          <a:ln/>
        </p:spPr>
        <p:txBody>
          <a:bodyPr wrap="square" lIns="0" tIns="0" rIns="0" bIns="0" rtlCol="0" anchor="ctr"/>
          <a:lstStyle/>
          <a:p>
            <a:pPr rtl="1" algn="ctr" indent="0" marL="0">
              <a:buNone/>
            </a:pPr>
            <a:r>
              <a:rPr lang="en-US" sz="1600" b="1" dirty="0">
                <a:solidFill>
                  <a:srgbClr val="E8EEF6"/>
                </a:solidFill>
                <a:latin typeface="Arial" pitchFamily="34" charset="0"/>
                <a:ea typeface="Arial" pitchFamily="34" charset="-122"/>
                <a:cs typeface="Arial" pitchFamily="34" charset="-120"/>
              </a:rPr>
              <a:t>معالجة على GPU</a:t>
            </a:r>
            <a:endParaRPr lang="en-US" sz="1600" dirty="0"/>
          </a:p>
        </p:txBody>
      </p:sp>
      <p:sp>
        <p:nvSpPr>
          <p:cNvPr id="23" name="Text 16"/>
          <p:cNvSpPr/>
          <p:nvPr/>
        </p:nvSpPr>
        <p:spPr>
          <a:xfrm>
            <a:off x="3515258" y="4114800"/>
            <a:ext cx="2331720" cy="685800"/>
          </a:xfrm>
          <a:prstGeom prst="rect">
            <a:avLst/>
          </a:prstGeom>
          <a:noFill/>
          <a:ln/>
        </p:spPr>
        <p:txBody>
          <a:bodyPr wrap="square" lIns="0" tIns="0" rIns="0" bIns="0" rtlCol="0" anchor="t"/>
          <a:lstStyle/>
          <a:p>
            <a:pPr rtl="1" algn="ctr" indent="0" marL="0">
              <a:lnSpc>
                <a:spcPct val="115000"/>
              </a:lnSpc>
              <a:buNone/>
            </a:pPr>
            <a:r>
              <a:rPr lang="en-US" sz="1200" dirty="0">
                <a:solidFill>
                  <a:srgbClr val="9DB0C7"/>
                </a:solidFill>
                <a:latin typeface="Arial" pitchFamily="34" charset="0"/>
                <a:ea typeface="Arial" pitchFamily="34" charset="-122"/>
                <a:cs typeface="Arial" pitchFamily="34" charset="-120"/>
              </a:rPr>
              <a:t>فكّ البيانات والاستيفاء داخل المتصفّح</a:t>
            </a:r>
            <a:endParaRPr lang="en-US" sz="1200" dirty="0"/>
          </a:p>
        </p:txBody>
      </p:sp>
      <p:pic>
        <p:nvPicPr>
          <p:cNvPr id="24" name="Image 5" descr="preencoded.png">    </p:cNvPr>
          <p:cNvPicPr>
            <a:picLocks noChangeAspect="1"/>
          </p:cNvPicPr>
          <p:nvPr/>
        </p:nvPicPr>
        <p:blipFill>
          <a:blip r:embed="rId6"/>
          <a:stretch>
            <a:fillRect/>
          </a:stretch>
        </p:blipFill>
        <p:spPr>
          <a:xfrm>
            <a:off x="3120085" y="3246120"/>
            <a:ext cx="274320" cy="274320"/>
          </a:xfrm>
          <a:prstGeom prst="rect">
            <a:avLst/>
          </a:prstGeom>
        </p:spPr>
      </p:pic>
      <p:sp>
        <p:nvSpPr>
          <p:cNvPr id="25" name="Shape 17"/>
          <p:cNvSpPr/>
          <p:nvPr/>
        </p:nvSpPr>
        <p:spPr>
          <a:xfrm>
            <a:off x="548640" y="2194560"/>
            <a:ext cx="2606040" cy="2651760"/>
          </a:xfrm>
          <a:prstGeom prst="roundRect">
            <a:avLst>
              <a:gd name="adj" fmla="val 3158"/>
            </a:avLst>
          </a:prstGeom>
          <a:solidFill>
            <a:srgbClr val="111B2E"/>
          </a:solidFill>
          <a:ln w="12700">
            <a:solidFill>
              <a:srgbClr val="243349"/>
            </a:solidFill>
            <a:prstDash val="solid"/>
          </a:ln>
          <a:effectLst>
            <a:outerShdw sx="100000" sy="100000" kx="0" ky="0" algn="bl" rotWithShape="0" blurRad="114300" dist="38100" dir="5400000">
              <a:srgbClr val="000000">
                <a:alpha val="28000"/>
              </a:srgbClr>
            </a:outerShdw>
          </a:effectLst>
        </p:spPr>
      </p:sp>
      <p:sp>
        <p:nvSpPr>
          <p:cNvPr id="26" name="Shape 18"/>
          <p:cNvSpPr/>
          <p:nvPr/>
        </p:nvSpPr>
        <p:spPr>
          <a:xfrm>
            <a:off x="1440180" y="2468880"/>
            <a:ext cx="822960" cy="822960"/>
          </a:xfrm>
          <a:prstGeom prst="ellipse">
            <a:avLst/>
          </a:prstGeom>
          <a:solidFill>
            <a:srgbClr val="2B3A8C"/>
          </a:solidFill>
          <a:ln/>
        </p:spPr>
      </p:sp>
      <p:pic>
        <p:nvPicPr>
          <p:cNvPr id="27" name="Image 6" descr="preencoded.png">    </p:cNvPr>
          <p:cNvPicPr>
            <a:picLocks noChangeAspect="1"/>
          </p:cNvPicPr>
          <p:nvPr/>
        </p:nvPicPr>
        <p:blipFill>
          <a:blip r:embed="rId7"/>
          <a:stretch>
            <a:fillRect/>
          </a:stretch>
        </p:blipFill>
        <p:spPr>
          <a:xfrm>
            <a:off x="1604772" y="2633472"/>
            <a:ext cx="493776" cy="493776"/>
          </a:xfrm>
          <a:prstGeom prst="rect">
            <a:avLst/>
          </a:prstGeom>
        </p:spPr>
      </p:pic>
      <p:sp>
        <p:nvSpPr>
          <p:cNvPr id="28" name="Text 19"/>
          <p:cNvSpPr/>
          <p:nvPr/>
        </p:nvSpPr>
        <p:spPr>
          <a:xfrm>
            <a:off x="548640" y="3383280"/>
            <a:ext cx="2606040" cy="365760"/>
          </a:xfrm>
          <a:prstGeom prst="rect">
            <a:avLst/>
          </a:prstGeom>
          <a:noFill/>
          <a:ln/>
        </p:spPr>
        <p:txBody>
          <a:bodyPr wrap="square" lIns="0" tIns="0" rIns="0" bIns="0" rtlCol="0" anchor="ctr"/>
          <a:lstStyle/>
          <a:p>
            <a:pPr algn="ctr" indent="0" marL="0">
              <a:buNone/>
            </a:pPr>
            <a:r>
              <a:rPr lang="en-US" sz="1600" b="1" dirty="0">
                <a:solidFill>
                  <a:srgbClr val="1CA9DF"/>
                </a:solidFill>
                <a:latin typeface="Cambria" pitchFamily="34" charset="0"/>
                <a:ea typeface="Cambria" pitchFamily="34" charset="-122"/>
                <a:cs typeface="Cambria" pitchFamily="34" charset="-120"/>
              </a:rPr>
              <a:t>‏4</a:t>
            </a:r>
            <a:endParaRPr lang="en-US" sz="1600" dirty="0"/>
          </a:p>
        </p:txBody>
      </p:sp>
      <p:sp>
        <p:nvSpPr>
          <p:cNvPr id="29" name="Text 20"/>
          <p:cNvSpPr/>
          <p:nvPr/>
        </p:nvSpPr>
        <p:spPr>
          <a:xfrm>
            <a:off x="658368" y="3703320"/>
            <a:ext cx="2386584" cy="411480"/>
          </a:xfrm>
          <a:prstGeom prst="rect">
            <a:avLst/>
          </a:prstGeom>
          <a:noFill/>
          <a:ln/>
        </p:spPr>
        <p:txBody>
          <a:bodyPr wrap="square" lIns="0" tIns="0" rIns="0" bIns="0" rtlCol="0" anchor="ctr"/>
          <a:lstStyle/>
          <a:p>
            <a:pPr rtl="1" algn="ctr" indent="0" marL="0">
              <a:buNone/>
            </a:pPr>
            <a:r>
              <a:rPr lang="en-US" sz="1600" b="1" dirty="0">
                <a:solidFill>
                  <a:srgbClr val="E8EEF6"/>
                </a:solidFill>
                <a:latin typeface="Arial" pitchFamily="34" charset="0"/>
                <a:ea typeface="Arial" pitchFamily="34" charset="-122"/>
                <a:cs typeface="Arial" pitchFamily="34" charset="-120"/>
              </a:rPr>
              <a:t>عرض حيّ</a:t>
            </a:r>
            <a:endParaRPr lang="en-US" sz="1600" dirty="0"/>
          </a:p>
        </p:txBody>
      </p:sp>
      <p:sp>
        <p:nvSpPr>
          <p:cNvPr id="30" name="Text 21"/>
          <p:cNvSpPr/>
          <p:nvPr/>
        </p:nvSpPr>
        <p:spPr>
          <a:xfrm>
            <a:off x="685800" y="4114800"/>
            <a:ext cx="2331720" cy="685800"/>
          </a:xfrm>
          <a:prstGeom prst="rect">
            <a:avLst/>
          </a:prstGeom>
          <a:noFill/>
          <a:ln/>
        </p:spPr>
        <p:txBody>
          <a:bodyPr wrap="square" lIns="0" tIns="0" rIns="0" bIns="0" rtlCol="0" anchor="t"/>
          <a:lstStyle/>
          <a:p>
            <a:pPr rtl="1" algn="ctr" indent="0" marL="0">
              <a:lnSpc>
                <a:spcPct val="115000"/>
              </a:lnSpc>
              <a:buNone/>
            </a:pPr>
            <a:r>
              <a:rPr lang="en-US" sz="1200" dirty="0">
                <a:solidFill>
                  <a:srgbClr val="9DB0C7"/>
                </a:solidFill>
                <a:latin typeface="Arial" pitchFamily="34" charset="0"/>
                <a:ea typeface="Arial" pitchFamily="34" charset="-122"/>
                <a:cs typeface="Arial" pitchFamily="34" charset="-120"/>
              </a:rPr>
              <a:t>‏heatmap ملوّن + جسيمات ‏60 إطار/ثانية</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502920"/>
            <a:ext cx="11064240" cy="365760"/>
          </a:xfrm>
          <a:prstGeom prst="rect">
            <a:avLst/>
          </a:prstGeom>
          <a:noFill/>
          <a:ln/>
        </p:spPr>
        <p:txBody>
          <a:bodyPr wrap="square" lIns="0" tIns="0" rIns="0" bIns="0" rtlCol="0" anchor="ctr"/>
          <a:lstStyle/>
          <a:p>
            <a:pPr rtl="1" algn="r" indent="0" marL="0">
              <a:buNone/>
            </a:pPr>
            <a:r>
              <a:rPr lang="en-US" sz="1400" b="1" spc="200" kern="0" dirty="0">
                <a:solidFill>
                  <a:srgbClr val="1CA9DF"/>
                </a:solidFill>
                <a:latin typeface="Arial" pitchFamily="34" charset="0"/>
                <a:ea typeface="Arial" pitchFamily="34" charset="-122"/>
                <a:cs typeface="Arial" pitchFamily="34" charset="-120"/>
              </a:rPr>
              <a:t>الميزة التنافسية</a:t>
            </a:r>
            <a:endParaRPr lang="en-US" sz="1400" dirty="0"/>
          </a:p>
        </p:txBody>
      </p:sp>
      <p:sp>
        <p:nvSpPr>
          <p:cNvPr id="3" name="Text 1"/>
          <p:cNvSpPr/>
          <p:nvPr/>
        </p:nvSpPr>
        <p:spPr>
          <a:xfrm>
            <a:off x="548640" y="868680"/>
            <a:ext cx="11064240" cy="822960"/>
          </a:xfrm>
          <a:prstGeom prst="rect">
            <a:avLst/>
          </a:prstGeom>
          <a:noFill/>
          <a:ln/>
        </p:spPr>
        <p:txBody>
          <a:bodyPr wrap="square" lIns="0" tIns="0" rIns="0" bIns="0" rtlCol="0" anchor="ctr"/>
          <a:lstStyle/>
          <a:p>
            <a:pPr rtl="1" algn="r" indent="0" marL="0">
              <a:buNone/>
            </a:pPr>
            <a:r>
              <a:rPr lang="en-US" sz="3400" b="1" dirty="0">
                <a:solidFill>
                  <a:srgbClr val="E8EEF6"/>
                </a:solidFill>
                <a:latin typeface="Cambria" pitchFamily="34" charset="0"/>
                <a:ea typeface="Cambria" pitchFamily="34" charset="-122"/>
                <a:cs typeface="Cambria" pitchFamily="34" charset="-120"/>
              </a:rPr>
              <a:t>تكلفة تشغيل شبه صفرية</a:t>
            </a:r>
            <a:endParaRPr lang="en-US" sz="3400" dirty="0"/>
          </a:p>
        </p:txBody>
      </p:sp>
      <p:sp>
        <p:nvSpPr>
          <p:cNvPr id="4" name="Shape 2"/>
          <p:cNvSpPr/>
          <p:nvPr/>
        </p:nvSpPr>
        <p:spPr>
          <a:xfrm>
            <a:off x="6126480" y="1828800"/>
            <a:ext cx="5577840" cy="3840480"/>
          </a:xfrm>
          <a:prstGeom prst="roundRect">
            <a:avLst>
              <a:gd name="adj" fmla="val 2143"/>
            </a:avLst>
          </a:prstGeom>
          <a:solidFill>
            <a:srgbClr val="111B2E"/>
          </a:solidFill>
          <a:ln w="12700">
            <a:solidFill>
              <a:srgbClr val="243349"/>
            </a:solidFill>
            <a:prstDash val="solid"/>
          </a:ln>
          <a:effectLst>
            <a:outerShdw sx="100000" sy="100000" kx="0" ky="0" algn="bl" rotWithShape="0" blurRad="114300" dist="38100" dir="5400000">
              <a:srgbClr val="000000">
                <a:alpha val="28000"/>
              </a:srgbClr>
            </a:outerShdw>
          </a:effectLst>
        </p:spPr>
      </p:sp>
      <p:sp>
        <p:nvSpPr>
          <p:cNvPr id="5" name="Text 3"/>
          <p:cNvSpPr/>
          <p:nvPr/>
        </p:nvSpPr>
        <p:spPr>
          <a:xfrm>
            <a:off x="6309360" y="2194560"/>
            <a:ext cx="5212080" cy="1097280"/>
          </a:xfrm>
          <a:prstGeom prst="rect">
            <a:avLst/>
          </a:prstGeom>
          <a:noFill/>
          <a:ln/>
        </p:spPr>
        <p:txBody>
          <a:bodyPr wrap="square" lIns="0" tIns="0" rIns="0" bIns="0" rtlCol="0" anchor="ctr"/>
          <a:lstStyle/>
          <a:p>
            <a:pPr rtl="1" algn="r" indent="0" marL="0">
              <a:buNone/>
            </a:pPr>
            <a:r>
              <a:rPr lang="en-US" sz="6000" b="1" dirty="0">
                <a:solidFill>
                  <a:srgbClr val="1CA9DF"/>
                </a:solidFill>
                <a:latin typeface="Cambria" pitchFamily="34" charset="0"/>
                <a:ea typeface="Cambria" pitchFamily="34" charset="-122"/>
                <a:cs typeface="Cambria" pitchFamily="34" charset="-120"/>
              </a:rPr>
              <a:t>≈ صفر</a:t>
            </a:r>
            <a:endParaRPr lang="en-US" sz="6000" dirty="0"/>
          </a:p>
        </p:txBody>
      </p:sp>
      <p:sp>
        <p:nvSpPr>
          <p:cNvPr id="6" name="Text 4"/>
          <p:cNvSpPr/>
          <p:nvPr/>
        </p:nvSpPr>
        <p:spPr>
          <a:xfrm>
            <a:off x="6309360" y="3291840"/>
            <a:ext cx="5212080" cy="457200"/>
          </a:xfrm>
          <a:prstGeom prst="rect">
            <a:avLst/>
          </a:prstGeom>
          <a:noFill/>
          <a:ln/>
        </p:spPr>
        <p:txBody>
          <a:bodyPr wrap="square" lIns="0" tIns="0" rIns="0" bIns="0" rtlCol="0" anchor="ctr"/>
          <a:lstStyle/>
          <a:p>
            <a:pPr rtl="1" algn="r" indent="0" marL="0">
              <a:buNone/>
            </a:pPr>
            <a:r>
              <a:rPr lang="en-US" sz="1800" b="1" dirty="0">
                <a:solidFill>
                  <a:srgbClr val="E8EEF6"/>
                </a:solidFill>
                <a:latin typeface="Arial" pitchFamily="34" charset="0"/>
                <a:ea typeface="Arial" pitchFamily="34" charset="-122"/>
                <a:cs typeface="Arial" pitchFamily="34" charset="-120"/>
              </a:rPr>
              <a:t>رسوم تراخيص البيانات</a:t>
            </a:r>
            <a:endParaRPr lang="en-US" sz="1800" dirty="0"/>
          </a:p>
        </p:txBody>
      </p:sp>
      <p:sp>
        <p:nvSpPr>
          <p:cNvPr id="7" name="Text 5"/>
          <p:cNvSpPr/>
          <p:nvPr/>
        </p:nvSpPr>
        <p:spPr>
          <a:xfrm>
            <a:off x="6309360" y="3794760"/>
            <a:ext cx="5212080" cy="1645920"/>
          </a:xfrm>
          <a:prstGeom prst="rect">
            <a:avLst/>
          </a:prstGeom>
          <a:noFill/>
          <a:ln/>
        </p:spPr>
        <p:txBody>
          <a:bodyPr wrap="square" lIns="0" tIns="0" rIns="0" bIns="0" rtlCol="0" anchor="t"/>
          <a:lstStyle/>
          <a:p>
            <a:pPr rtl="1" algn="r" indent="0" marL="0">
              <a:lnSpc>
                <a:spcPct val="135000"/>
              </a:lnSpc>
              <a:buNone/>
            </a:pPr>
            <a:r>
              <a:rPr lang="en-US" sz="1550" dirty="0">
                <a:solidFill>
                  <a:srgbClr val="9DB0C7"/>
                </a:solidFill>
                <a:latin typeface="Arial" pitchFamily="34" charset="0"/>
                <a:ea typeface="Arial" pitchFamily="34" charset="-122"/>
                <a:cs typeface="Arial" pitchFamily="34" charset="-120"/>
              </a:rPr>
              <a:t>مصادر مفتوحة مجانية: Open-Meteo • NASA GIBS • RainViewer • FIRMS — بدلاً من التراخيص المكلفة التي تعتمدها المنصّات المنافسة.</a:t>
            </a:r>
            <a:endParaRPr lang="en-US" sz="1550" dirty="0"/>
          </a:p>
        </p:txBody>
      </p:sp>
      <p:sp>
        <p:nvSpPr>
          <p:cNvPr id="8" name="Shape 6"/>
          <p:cNvSpPr/>
          <p:nvPr/>
        </p:nvSpPr>
        <p:spPr>
          <a:xfrm>
            <a:off x="548640" y="1828800"/>
            <a:ext cx="5394960" cy="1207008"/>
          </a:xfrm>
          <a:prstGeom prst="roundRect">
            <a:avLst>
              <a:gd name="adj" fmla="val 6818"/>
            </a:avLst>
          </a:prstGeom>
          <a:solidFill>
            <a:srgbClr val="111B2E"/>
          </a:solidFill>
          <a:ln w="12700">
            <a:solidFill>
              <a:srgbClr val="243349"/>
            </a:solidFill>
            <a:prstDash val="solid"/>
          </a:ln>
          <a:effectLst>
            <a:outerShdw sx="100000" sy="100000" kx="0" ky="0" algn="bl" rotWithShape="0" blurRad="114300" dist="38100" dir="5400000">
              <a:srgbClr val="000000">
                <a:alpha val="28000"/>
              </a:srgbClr>
            </a:outerShdw>
          </a:effectLst>
        </p:spPr>
      </p:sp>
      <p:sp>
        <p:nvSpPr>
          <p:cNvPr id="9" name="Shape 7"/>
          <p:cNvSpPr/>
          <p:nvPr/>
        </p:nvSpPr>
        <p:spPr>
          <a:xfrm>
            <a:off x="5029200" y="2194560"/>
            <a:ext cx="502920" cy="502920"/>
          </a:xfrm>
          <a:prstGeom prst="ellipse">
            <a:avLst/>
          </a:prstGeom>
          <a:solidFill>
            <a:srgbClr val="2B3A8C"/>
          </a:solidFill>
          <a:ln/>
        </p:spPr>
      </p:sp>
      <p:pic>
        <p:nvPicPr>
          <p:cNvPr id="10" name="Image 0" descr="preencoded.png">    </p:cNvPr>
          <p:cNvPicPr>
            <a:picLocks noChangeAspect="1"/>
          </p:cNvPicPr>
          <p:nvPr/>
        </p:nvPicPr>
        <p:blipFill>
          <a:blip r:embed="rId1"/>
          <a:stretch>
            <a:fillRect/>
          </a:stretch>
        </p:blipFill>
        <p:spPr>
          <a:xfrm>
            <a:off x="5120640" y="2286000"/>
            <a:ext cx="320040" cy="320040"/>
          </a:xfrm>
          <a:prstGeom prst="rect">
            <a:avLst/>
          </a:prstGeom>
        </p:spPr>
      </p:pic>
      <p:sp>
        <p:nvSpPr>
          <p:cNvPr id="11" name="Text 8"/>
          <p:cNvSpPr/>
          <p:nvPr/>
        </p:nvSpPr>
        <p:spPr>
          <a:xfrm>
            <a:off x="777240" y="2029968"/>
            <a:ext cx="4023360" cy="411480"/>
          </a:xfrm>
          <a:prstGeom prst="rect">
            <a:avLst/>
          </a:prstGeom>
          <a:noFill/>
          <a:ln/>
        </p:spPr>
        <p:txBody>
          <a:bodyPr wrap="square" lIns="0" tIns="0" rIns="0" bIns="0" rtlCol="0" anchor="ctr"/>
          <a:lstStyle/>
          <a:p>
            <a:pPr rtl="1" algn="r" indent="0" marL="0">
              <a:buNone/>
            </a:pPr>
            <a:r>
              <a:rPr lang="en-US" sz="1700" b="1" dirty="0">
                <a:solidFill>
                  <a:srgbClr val="E8EEF6"/>
                </a:solidFill>
                <a:latin typeface="Arial" pitchFamily="34" charset="0"/>
                <a:ea typeface="Arial" pitchFamily="34" charset="-122"/>
                <a:cs typeface="Arial" pitchFamily="34" charset="-120"/>
              </a:rPr>
              <a:t>بيانات مفتوحة</a:t>
            </a:r>
            <a:endParaRPr lang="en-US" sz="1700" dirty="0"/>
          </a:p>
        </p:txBody>
      </p:sp>
      <p:sp>
        <p:nvSpPr>
          <p:cNvPr id="12" name="Text 9"/>
          <p:cNvSpPr/>
          <p:nvPr/>
        </p:nvSpPr>
        <p:spPr>
          <a:xfrm>
            <a:off x="777240" y="2450592"/>
            <a:ext cx="4114800" cy="457200"/>
          </a:xfrm>
          <a:prstGeom prst="rect">
            <a:avLst/>
          </a:prstGeom>
          <a:noFill/>
          <a:ln/>
        </p:spPr>
        <p:txBody>
          <a:bodyPr wrap="square" lIns="0" tIns="0" rIns="0" bIns="0" rtlCol="0" anchor="t"/>
          <a:lstStyle/>
          <a:p>
            <a:pPr rtl="1" algn="r" indent="0" marL="0">
              <a:lnSpc>
                <a:spcPct val="115000"/>
              </a:lnSpc>
              <a:buNone/>
            </a:pPr>
            <a:r>
              <a:rPr lang="en-US" sz="1250" dirty="0">
                <a:solidFill>
                  <a:srgbClr val="9DB0C7"/>
                </a:solidFill>
                <a:latin typeface="Arial" pitchFamily="34" charset="0"/>
                <a:ea typeface="Arial" pitchFamily="34" charset="-122"/>
                <a:cs typeface="Arial" pitchFamily="34" charset="-120"/>
              </a:rPr>
              <a:t>لا رسوم API شهرية</a:t>
            </a:r>
            <a:endParaRPr lang="en-US" sz="1250" dirty="0"/>
          </a:p>
        </p:txBody>
      </p:sp>
      <p:sp>
        <p:nvSpPr>
          <p:cNvPr id="13" name="Shape 10"/>
          <p:cNvSpPr/>
          <p:nvPr/>
        </p:nvSpPr>
        <p:spPr>
          <a:xfrm>
            <a:off x="548640" y="3154680"/>
            <a:ext cx="5394960" cy="1207008"/>
          </a:xfrm>
          <a:prstGeom prst="roundRect">
            <a:avLst>
              <a:gd name="adj" fmla="val 6818"/>
            </a:avLst>
          </a:prstGeom>
          <a:solidFill>
            <a:srgbClr val="111B2E"/>
          </a:solidFill>
          <a:ln w="12700">
            <a:solidFill>
              <a:srgbClr val="243349"/>
            </a:solidFill>
            <a:prstDash val="solid"/>
          </a:ln>
          <a:effectLst>
            <a:outerShdw sx="100000" sy="100000" kx="0" ky="0" algn="bl" rotWithShape="0" blurRad="114300" dist="38100" dir="5400000">
              <a:srgbClr val="000000">
                <a:alpha val="28000"/>
              </a:srgbClr>
            </a:outerShdw>
          </a:effectLst>
        </p:spPr>
      </p:sp>
      <p:sp>
        <p:nvSpPr>
          <p:cNvPr id="14" name="Shape 11"/>
          <p:cNvSpPr/>
          <p:nvPr/>
        </p:nvSpPr>
        <p:spPr>
          <a:xfrm>
            <a:off x="5029200" y="3520440"/>
            <a:ext cx="502920" cy="502920"/>
          </a:xfrm>
          <a:prstGeom prst="ellipse">
            <a:avLst/>
          </a:prstGeom>
          <a:solidFill>
            <a:srgbClr val="2B3A8C"/>
          </a:solidFill>
          <a:ln/>
        </p:spPr>
      </p:sp>
      <p:pic>
        <p:nvPicPr>
          <p:cNvPr id="15" name="Image 1" descr="preencoded.png">    </p:cNvPr>
          <p:cNvPicPr>
            <a:picLocks noChangeAspect="1"/>
          </p:cNvPicPr>
          <p:nvPr/>
        </p:nvPicPr>
        <p:blipFill>
          <a:blip r:embed="rId2"/>
          <a:stretch>
            <a:fillRect/>
          </a:stretch>
        </p:blipFill>
        <p:spPr>
          <a:xfrm>
            <a:off x="5120640" y="3611880"/>
            <a:ext cx="320040" cy="320040"/>
          </a:xfrm>
          <a:prstGeom prst="rect">
            <a:avLst/>
          </a:prstGeom>
        </p:spPr>
      </p:pic>
      <p:sp>
        <p:nvSpPr>
          <p:cNvPr id="16" name="Text 12"/>
          <p:cNvSpPr/>
          <p:nvPr/>
        </p:nvSpPr>
        <p:spPr>
          <a:xfrm>
            <a:off x="777240" y="3355848"/>
            <a:ext cx="4023360" cy="411480"/>
          </a:xfrm>
          <a:prstGeom prst="rect">
            <a:avLst/>
          </a:prstGeom>
          <a:noFill/>
          <a:ln/>
        </p:spPr>
        <p:txBody>
          <a:bodyPr wrap="square" lIns="0" tIns="0" rIns="0" bIns="0" rtlCol="0" anchor="ctr"/>
          <a:lstStyle/>
          <a:p>
            <a:pPr rtl="1" algn="r" indent="0" marL="0">
              <a:buNone/>
            </a:pPr>
            <a:r>
              <a:rPr lang="en-US" sz="1700" b="1" dirty="0">
                <a:solidFill>
                  <a:srgbClr val="E8EEF6"/>
                </a:solidFill>
                <a:latin typeface="Arial" pitchFamily="34" charset="0"/>
                <a:ea typeface="Arial" pitchFamily="34" charset="-122"/>
                <a:cs typeface="Arial" pitchFamily="34" charset="-120"/>
              </a:rPr>
              <a:t>تخزين مؤقت ذكي</a:t>
            </a:r>
            <a:endParaRPr lang="en-US" sz="1700" dirty="0"/>
          </a:p>
        </p:txBody>
      </p:sp>
      <p:sp>
        <p:nvSpPr>
          <p:cNvPr id="17" name="Text 13"/>
          <p:cNvSpPr/>
          <p:nvPr/>
        </p:nvSpPr>
        <p:spPr>
          <a:xfrm>
            <a:off x="777240" y="3776472"/>
            <a:ext cx="4114800" cy="457200"/>
          </a:xfrm>
          <a:prstGeom prst="rect">
            <a:avLst/>
          </a:prstGeom>
          <a:noFill/>
          <a:ln/>
        </p:spPr>
        <p:txBody>
          <a:bodyPr wrap="square" lIns="0" tIns="0" rIns="0" bIns="0" rtlCol="0" anchor="t"/>
          <a:lstStyle/>
          <a:p>
            <a:pPr rtl="1" algn="r" indent="0" marL="0">
              <a:lnSpc>
                <a:spcPct val="115000"/>
              </a:lnSpc>
              <a:buNone/>
            </a:pPr>
            <a:r>
              <a:rPr lang="en-US" sz="1250" dirty="0">
                <a:solidFill>
                  <a:srgbClr val="9DB0C7"/>
                </a:solidFill>
                <a:latin typeface="Arial" pitchFamily="34" charset="0"/>
                <a:ea typeface="Arial" pitchFamily="34" charset="-122"/>
                <a:cs typeface="Arial" pitchFamily="34" charset="-120"/>
              </a:rPr>
              <a:t>يعمل حتى عند تعطّل المزوّد (Stale-while-revalidate)</a:t>
            </a:r>
            <a:endParaRPr lang="en-US" sz="1250" dirty="0"/>
          </a:p>
        </p:txBody>
      </p:sp>
      <p:sp>
        <p:nvSpPr>
          <p:cNvPr id="18" name="Shape 14"/>
          <p:cNvSpPr/>
          <p:nvPr/>
        </p:nvSpPr>
        <p:spPr>
          <a:xfrm>
            <a:off x="548640" y="4480560"/>
            <a:ext cx="5394960" cy="1207008"/>
          </a:xfrm>
          <a:prstGeom prst="roundRect">
            <a:avLst>
              <a:gd name="adj" fmla="val 6818"/>
            </a:avLst>
          </a:prstGeom>
          <a:solidFill>
            <a:srgbClr val="111B2E"/>
          </a:solidFill>
          <a:ln w="12700">
            <a:solidFill>
              <a:srgbClr val="243349"/>
            </a:solidFill>
            <a:prstDash val="solid"/>
          </a:ln>
          <a:effectLst>
            <a:outerShdw sx="100000" sy="100000" kx="0" ky="0" algn="bl" rotWithShape="0" blurRad="114300" dist="38100" dir="5400000">
              <a:srgbClr val="000000">
                <a:alpha val="28000"/>
              </a:srgbClr>
            </a:outerShdw>
          </a:effectLst>
        </p:spPr>
      </p:sp>
      <p:sp>
        <p:nvSpPr>
          <p:cNvPr id="19" name="Shape 15"/>
          <p:cNvSpPr/>
          <p:nvPr/>
        </p:nvSpPr>
        <p:spPr>
          <a:xfrm>
            <a:off x="5029200" y="4846320"/>
            <a:ext cx="502920" cy="502920"/>
          </a:xfrm>
          <a:prstGeom prst="ellipse">
            <a:avLst/>
          </a:prstGeom>
          <a:solidFill>
            <a:srgbClr val="2B3A8C"/>
          </a:solidFill>
          <a:ln/>
        </p:spPr>
      </p:sp>
      <p:pic>
        <p:nvPicPr>
          <p:cNvPr id="20" name="Image 2" descr="preencoded.png">    </p:cNvPr>
          <p:cNvPicPr>
            <a:picLocks noChangeAspect="1"/>
          </p:cNvPicPr>
          <p:nvPr/>
        </p:nvPicPr>
        <p:blipFill>
          <a:blip r:embed="rId3"/>
          <a:stretch>
            <a:fillRect/>
          </a:stretch>
        </p:blipFill>
        <p:spPr>
          <a:xfrm>
            <a:off x="5120640" y="4937760"/>
            <a:ext cx="320040" cy="320040"/>
          </a:xfrm>
          <a:prstGeom prst="rect">
            <a:avLst/>
          </a:prstGeom>
        </p:spPr>
      </p:pic>
      <p:sp>
        <p:nvSpPr>
          <p:cNvPr id="21" name="Text 16"/>
          <p:cNvSpPr/>
          <p:nvPr/>
        </p:nvSpPr>
        <p:spPr>
          <a:xfrm>
            <a:off x="777240" y="4681728"/>
            <a:ext cx="4023360" cy="411480"/>
          </a:xfrm>
          <a:prstGeom prst="rect">
            <a:avLst/>
          </a:prstGeom>
          <a:noFill/>
          <a:ln/>
        </p:spPr>
        <p:txBody>
          <a:bodyPr wrap="square" lIns="0" tIns="0" rIns="0" bIns="0" rtlCol="0" anchor="ctr"/>
          <a:lstStyle/>
          <a:p>
            <a:pPr rtl="1" algn="r" indent="0" marL="0">
              <a:buNone/>
            </a:pPr>
            <a:r>
              <a:rPr lang="en-US" sz="1700" b="1" dirty="0">
                <a:solidFill>
                  <a:srgbClr val="E8EEF6"/>
                </a:solidFill>
                <a:latin typeface="Arial" pitchFamily="34" charset="0"/>
                <a:ea typeface="Arial" pitchFamily="34" charset="-122"/>
                <a:cs typeface="Arial" pitchFamily="34" charset="-120"/>
              </a:rPr>
              <a:t>استضافة خفيفة</a:t>
            </a:r>
            <a:endParaRPr lang="en-US" sz="1700" dirty="0"/>
          </a:p>
        </p:txBody>
      </p:sp>
      <p:sp>
        <p:nvSpPr>
          <p:cNvPr id="22" name="Text 17"/>
          <p:cNvSpPr/>
          <p:nvPr/>
        </p:nvSpPr>
        <p:spPr>
          <a:xfrm>
            <a:off x="777240" y="5102352"/>
            <a:ext cx="4114800" cy="457200"/>
          </a:xfrm>
          <a:prstGeom prst="rect">
            <a:avLst/>
          </a:prstGeom>
          <a:noFill/>
          <a:ln/>
        </p:spPr>
        <p:txBody>
          <a:bodyPr wrap="square" lIns="0" tIns="0" rIns="0" bIns="0" rtlCol="0" anchor="t"/>
          <a:lstStyle/>
          <a:p>
            <a:pPr rtl="1" algn="r" indent="0" marL="0">
              <a:lnSpc>
                <a:spcPct val="115000"/>
              </a:lnSpc>
              <a:buNone/>
            </a:pPr>
            <a:r>
              <a:rPr lang="en-US" sz="1250" dirty="0">
                <a:solidFill>
                  <a:srgbClr val="9DB0C7"/>
                </a:solidFill>
                <a:latin typeface="Arial" pitchFamily="34" charset="0"/>
                <a:ea typeface="Arial" pitchFamily="34" charset="-122"/>
                <a:cs typeface="Arial" pitchFamily="34" charset="-120"/>
              </a:rPr>
              <a:t>متطلبات خوادم منخفضة</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502920"/>
            <a:ext cx="11064240" cy="365760"/>
          </a:xfrm>
          <a:prstGeom prst="rect">
            <a:avLst/>
          </a:prstGeom>
          <a:noFill/>
          <a:ln/>
        </p:spPr>
        <p:txBody>
          <a:bodyPr wrap="square" lIns="0" tIns="0" rIns="0" bIns="0" rtlCol="0" anchor="ctr"/>
          <a:lstStyle/>
          <a:p>
            <a:pPr rtl="1" algn="r" indent="0" marL="0">
              <a:buNone/>
            </a:pPr>
            <a:r>
              <a:rPr lang="en-US" sz="1400" b="1" spc="200" kern="0" dirty="0">
                <a:solidFill>
                  <a:srgbClr val="1CA9DF"/>
                </a:solidFill>
                <a:latin typeface="Arial" pitchFamily="34" charset="0"/>
                <a:ea typeface="Arial" pitchFamily="34" charset="-122"/>
                <a:cs typeface="Arial" pitchFamily="34" charset="-120"/>
              </a:rPr>
              <a:t>قابل للنمو</a:t>
            </a:r>
            <a:endParaRPr lang="en-US" sz="1400" dirty="0"/>
          </a:p>
        </p:txBody>
      </p:sp>
      <p:sp>
        <p:nvSpPr>
          <p:cNvPr id="3" name="Text 1"/>
          <p:cNvSpPr/>
          <p:nvPr/>
        </p:nvSpPr>
        <p:spPr>
          <a:xfrm>
            <a:off x="548640" y="868680"/>
            <a:ext cx="11064240" cy="822960"/>
          </a:xfrm>
          <a:prstGeom prst="rect">
            <a:avLst/>
          </a:prstGeom>
          <a:noFill/>
          <a:ln/>
        </p:spPr>
        <p:txBody>
          <a:bodyPr wrap="square" lIns="0" tIns="0" rIns="0" bIns="0" rtlCol="0" anchor="ctr"/>
          <a:lstStyle/>
          <a:p>
            <a:pPr rtl="1" algn="r" indent="0" marL="0">
              <a:buNone/>
            </a:pPr>
            <a:r>
              <a:rPr lang="en-US" sz="3400" b="1" dirty="0">
                <a:solidFill>
                  <a:srgbClr val="E8EEF6"/>
                </a:solidFill>
                <a:latin typeface="Cambria" pitchFamily="34" charset="0"/>
                <a:ea typeface="Cambria" pitchFamily="34" charset="-122"/>
                <a:cs typeface="Cambria" pitchFamily="34" charset="-120"/>
              </a:rPr>
              <a:t>تطويرات قادمة ولوحة تحكّم للإدارة</a:t>
            </a:r>
            <a:endParaRPr lang="en-US" sz="3400" dirty="0"/>
          </a:p>
        </p:txBody>
      </p:sp>
      <p:sp>
        <p:nvSpPr>
          <p:cNvPr id="4" name="Text 2"/>
          <p:cNvSpPr/>
          <p:nvPr/>
        </p:nvSpPr>
        <p:spPr>
          <a:xfrm>
            <a:off x="548640" y="1737360"/>
            <a:ext cx="11064240" cy="640080"/>
          </a:xfrm>
          <a:prstGeom prst="rect">
            <a:avLst/>
          </a:prstGeom>
          <a:noFill/>
          <a:ln/>
        </p:spPr>
        <p:txBody>
          <a:bodyPr wrap="square" lIns="0" tIns="0" rIns="0" bIns="0" rtlCol="0" anchor="ctr"/>
          <a:lstStyle/>
          <a:p>
            <a:pPr rtl="1" algn="r" indent="0" marL="0">
              <a:buNone/>
            </a:pPr>
            <a:r>
              <a:rPr lang="en-US" sz="1600" dirty="0">
                <a:solidFill>
                  <a:srgbClr val="9DB0C7"/>
                </a:solidFill>
                <a:latin typeface="Arial" pitchFamily="34" charset="0"/>
                <a:ea typeface="Arial" pitchFamily="34" charset="-122"/>
                <a:cs typeface="Arial" pitchFamily="34" charset="-120"/>
              </a:rPr>
              <a:t>النظام مصمَّم ليتوسّع — ستُضاف عليه ميزات جديدة تباعاً، وعلى رأسها لوحة تحكّم (Dashboard) كاملة للمشرف لإدارة المحتوى والطبقات والمستخدمين.</a:t>
            </a:r>
            <a:endParaRPr lang="en-US" sz="1600" dirty="0"/>
          </a:p>
        </p:txBody>
      </p:sp>
      <p:sp>
        <p:nvSpPr>
          <p:cNvPr id="5" name="Shape 3"/>
          <p:cNvSpPr/>
          <p:nvPr/>
        </p:nvSpPr>
        <p:spPr>
          <a:xfrm>
            <a:off x="8066380" y="2514600"/>
            <a:ext cx="3611880" cy="1554480"/>
          </a:xfrm>
          <a:prstGeom prst="roundRect">
            <a:avLst>
              <a:gd name="adj" fmla="val 5294"/>
            </a:avLst>
          </a:prstGeom>
          <a:solidFill>
            <a:srgbClr val="16314D"/>
          </a:solidFill>
          <a:ln w="12700">
            <a:solidFill>
              <a:srgbClr val="243349"/>
            </a:solidFill>
            <a:prstDash val="solid"/>
          </a:ln>
          <a:effectLst>
            <a:outerShdw sx="100000" sy="100000" kx="0" ky="0" algn="bl" rotWithShape="0" blurRad="114300" dist="38100" dir="5400000">
              <a:srgbClr val="000000">
                <a:alpha val="28000"/>
              </a:srgbClr>
            </a:outerShdw>
          </a:effectLst>
        </p:spPr>
      </p:sp>
      <p:sp>
        <p:nvSpPr>
          <p:cNvPr id="6" name="Shape 4"/>
          <p:cNvSpPr/>
          <p:nvPr/>
        </p:nvSpPr>
        <p:spPr>
          <a:xfrm>
            <a:off x="10837012" y="2770632"/>
            <a:ext cx="548640" cy="548640"/>
          </a:xfrm>
          <a:prstGeom prst="ellipse">
            <a:avLst/>
          </a:prstGeom>
          <a:solidFill>
            <a:srgbClr val="1CA9DF"/>
          </a:solidFill>
          <a:ln/>
        </p:spPr>
      </p:sp>
      <p:pic>
        <p:nvPicPr>
          <p:cNvPr id="7" name="Image 0" descr="preencoded.png">    </p:cNvPr>
          <p:cNvPicPr>
            <a:picLocks noChangeAspect="1"/>
          </p:cNvPicPr>
          <p:nvPr/>
        </p:nvPicPr>
        <p:blipFill>
          <a:blip r:embed="rId1"/>
          <a:stretch>
            <a:fillRect/>
          </a:stretch>
        </p:blipFill>
        <p:spPr>
          <a:xfrm>
            <a:off x="10955884" y="2889504"/>
            <a:ext cx="310896" cy="310896"/>
          </a:xfrm>
          <a:prstGeom prst="rect">
            <a:avLst/>
          </a:prstGeom>
        </p:spPr>
      </p:pic>
      <p:sp>
        <p:nvSpPr>
          <p:cNvPr id="8" name="Text 5"/>
          <p:cNvSpPr/>
          <p:nvPr/>
        </p:nvSpPr>
        <p:spPr>
          <a:xfrm>
            <a:off x="8249260" y="2743200"/>
            <a:ext cx="2697480" cy="548640"/>
          </a:xfrm>
          <a:prstGeom prst="rect">
            <a:avLst/>
          </a:prstGeom>
          <a:noFill/>
          <a:ln/>
        </p:spPr>
        <p:txBody>
          <a:bodyPr wrap="square" lIns="0" tIns="0" rIns="0" bIns="0" rtlCol="0" anchor="ctr"/>
          <a:lstStyle/>
          <a:p>
            <a:pPr rtl="1" algn="r" indent="0" marL="0">
              <a:buNone/>
            </a:pPr>
            <a:r>
              <a:rPr lang="en-US" sz="1550" b="1" dirty="0">
                <a:solidFill>
                  <a:srgbClr val="E8EEF6"/>
                </a:solidFill>
                <a:latin typeface="Arial" pitchFamily="34" charset="0"/>
                <a:ea typeface="Arial" pitchFamily="34" charset="-122"/>
                <a:cs typeface="Arial" pitchFamily="34" charset="-120"/>
              </a:rPr>
              <a:t>لوحة تحكّم للأدمن</a:t>
            </a:r>
            <a:endParaRPr lang="en-US" sz="1550" dirty="0"/>
          </a:p>
        </p:txBody>
      </p:sp>
      <p:sp>
        <p:nvSpPr>
          <p:cNvPr id="9" name="Text 6"/>
          <p:cNvSpPr/>
          <p:nvPr/>
        </p:nvSpPr>
        <p:spPr>
          <a:xfrm>
            <a:off x="8294980" y="3355848"/>
            <a:ext cx="3154680" cy="594360"/>
          </a:xfrm>
          <a:prstGeom prst="rect">
            <a:avLst/>
          </a:prstGeom>
          <a:noFill/>
          <a:ln/>
        </p:spPr>
        <p:txBody>
          <a:bodyPr wrap="square" lIns="0" tIns="0" rIns="0" bIns="0" rtlCol="0" anchor="t"/>
          <a:lstStyle/>
          <a:p>
            <a:pPr rtl="1" algn="r" indent="0" marL="0">
              <a:lnSpc>
                <a:spcPct val="115000"/>
              </a:lnSpc>
              <a:buNone/>
            </a:pPr>
            <a:r>
              <a:rPr lang="en-US" sz="1200" dirty="0">
                <a:solidFill>
                  <a:srgbClr val="9DB0C7"/>
                </a:solidFill>
                <a:latin typeface="Arial" pitchFamily="34" charset="0"/>
                <a:ea typeface="Arial" pitchFamily="34" charset="-122"/>
                <a:cs typeface="Arial" pitchFamily="34" charset="-120"/>
              </a:rPr>
              <a:t>إدارة الطبقات والمحتوى والإعدادات والمستخدمين من مكان واحد</a:t>
            </a:r>
            <a:endParaRPr lang="en-US" sz="1200" dirty="0"/>
          </a:p>
        </p:txBody>
      </p:sp>
      <p:sp>
        <p:nvSpPr>
          <p:cNvPr id="10" name="Shape 7"/>
          <p:cNvSpPr/>
          <p:nvPr/>
        </p:nvSpPr>
        <p:spPr>
          <a:xfrm>
            <a:off x="4289908" y="2514600"/>
            <a:ext cx="3611880" cy="1554480"/>
          </a:xfrm>
          <a:prstGeom prst="roundRect">
            <a:avLst>
              <a:gd name="adj" fmla="val 5294"/>
            </a:avLst>
          </a:prstGeom>
          <a:solidFill>
            <a:srgbClr val="111B2E"/>
          </a:solidFill>
          <a:ln w="12700">
            <a:solidFill>
              <a:srgbClr val="243349"/>
            </a:solidFill>
            <a:prstDash val="solid"/>
          </a:ln>
          <a:effectLst>
            <a:outerShdw sx="100000" sy="100000" kx="0" ky="0" algn="bl" rotWithShape="0" blurRad="114300" dist="38100" dir="5400000">
              <a:srgbClr val="000000">
                <a:alpha val="28000"/>
              </a:srgbClr>
            </a:outerShdw>
          </a:effectLst>
        </p:spPr>
      </p:sp>
      <p:sp>
        <p:nvSpPr>
          <p:cNvPr id="11" name="Shape 8"/>
          <p:cNvSpPr/>
          <p:nvPr/>
        </p:nvSpPr>
        <p:spPr>
          <a:xfrm>
            <a:off x="7060540" y="2770632"/>
            <a:ext cx="548640" cy="548640"/>
          </a:xfrm>
          <a:prstGeom prst="ellipse">
            <a:avLst/>
          </a:prstGeom>
          <a:solidFill>
            <a:srgbClr val="2B3A8C"/>
          </a:solidFill>
          <a:ln/>
        </p:spPr>
      </p:sp>
      <p:pic>
        <p:nvPicPr>
          <p:cNvPr id="12" name="Image 1" descr="preencoded.png">    </p:cNvPr>
          <p:cNvPicPr>
            <a:picLocks noChangeAspect="1"/>
          </p:cNvPicPr>
          <p:nvPr/>
        </p:nvPicPr>
        <p:blipFill>
          <a:blip r:embed="rId2"/>
          <a:stretch>
            <a:fillRect/>
          </a:stretch>
        </p:blipFill>
        <p:spPr>
          <a:xfrm>
            <a:off x="7179412" y="2889504"/>
            <a:ext cx="310896" cy="310896"/>
          </a:xfrm>
          <a:prstGeom prst="rect">
            <a:avLst/>
          </a:prstGeom>
        </p:spPr>
      </p:pic>
      <p:sp>
        <p:nvSpPr>
          <p:cNvPr id="13" name="Text 9"/>
          <p:cNvSpPr/>
          <p:nvPr/>
        </p:nvSpPr>
        <p:spPr>
          <a:xfrm>
            <a:off x="4472788" y="2743200"/>
            <a:ext cx="2697480" cy="548640"/>
          </a:xfrm>
          <a:prstGeom prst="rect">
            <a:avLst/>
          </a:prstGeom>
          <a:noFill/>
          <a:ln/>
        </p:spPr>
        <p:txBody>
          <a:bodyPr wrap="square" lIns="0" tIns="0" rIns="0" bIns="0" rtlCol="0" anchor="ctr"/>
          <a:lstStyle/>
          <a:p>
            <a:pPr rtl="1" algn="r" indent="0" marL="0">
              <a:buNone/>
            </a:pPr>
            <a:r>
              <a:rPr lang="en-US" sz="1550" b="1" dirty="0">
                <a:solidFill>
                  <a:srgbClr val="E8EEF6"/>
                </a:solidFill>
                <a:latin typeface="Arial" pitchFamily="34" charset="0"/>
                <a:ea typeface="Arial" pitchFamily="34" charset="-122"/>
                <a:cs typeface="Arial" pitchFamily="34" charset="-120"/>
              </a:rPr>
              <a:t>تنبيهات جوية</a:t>
            </a:r>
            <a:endParaRPr lang="en-US" sz="1550" dirty="0"/>
          </a:p>
        </p:txBody>
      </p:sp>
      <p:sp>
        <p:nvSpPr>
          <p:cNvPr id="14" name="Text 10"/>
          <p:cNvSpPr/>
          <p:nvPr/>
        </p:nvSpPr>
        <p:spPr>
          <a:xfrm>
            <a:off x="4518508" y="3355848"/>
            <a:ext cx="3154680" cy="594360"/>
          </a:xfrm>
          <a:prstGeom prst="rect">
            <a:avLst/>
          </a:prstGeom>
          <a:noFill/>
          <a:ln/>
        </p:spPr>
        <p:txBody>
          <a:bodyPr wrap="square" lIns="0" tIns="0" rIns="0" bIns="0" rtlCol="0" anchor="t"/>
          <a:lstStyle/>
          <a:p>
            <a:pPr rtl="1" algn="r" indent="0" marL="0">
              <a:lnSpc>
                <a:spcPct val="115000"/>
              </a:lnSpc>
              <a:buNone/>
            </a:pPr>
            <a:r>
              <a:rPr lang="en-US" sz="1200" dirty="0">
                <a:solidFill>
                  <a:srgbClr val="9DB0C7"/>
                </a:solidFill>
                <a:latin typeface="Arial" pitchFamily="34" charset="0"/>
                <a:ea typeface="Arial" pitchFamily="34" charset="-122"/>
                <a:cs typeface="Arial" pitchFamily="34" charset="-120"/>
              </a:rPr>
              <a:t>إشعارات تلقائية عند الظواهر الحرجة</a:t>
            </a:r>
            <a:endParaRPr lang="en-US" sz="1200" dirty="0"/>
          </a:p>
        </p:txBody>
      </p:sp>
      <p:sp>
        <p:nvSpPr>
          <p:cNvPr id="15" name="Shape 11"/>
          <p:cNvSpPr/>
          <p:nvPr/>
        </p:nvSpPr>
        <p:spPr>
          <a:xfrm>
            <a:off x="513436" y="2514600"/>
            <a:ext cx="3611880" cy="1554480"/>
          </a:xfrm>
          <a:prstGeom prst="roundRect">
            <a:avLst>
              <a:gd name="adj" fmla="val 5294"/>
            </a:avLst>
          </a:prstGeom>
          <a:solidFill>
            <a:srgbClr val="111B2E"/>
          </a:solidFill>
          <a:ln w="12700">
            <a:solidFill>
              <a:srgbClr val="243349"/>
            </a:solidFill>
            <a:prstDash val="solid"/>
          </a:ln>
          <a:effectLst>
            <a:outerShdw sx="100000" sy="100000" kx="0" ky="0" algn="bl" rotWithShape="0" blurRad="114300" dist="38100" dir="5400000">
              <a:srgbClr val="000000">
                <a:alpha val="28000"/>
              </a:srgbClr>
            </a:outerShdw>
          </a:effectLst>
        </p:spPr>
      </p:sp>
      <p:sp>
        <p:nvSpPr>
          <p:cNvPr id="16" name="Shape 12"/>
          <p:cNvSpPr/>
          <p:nvPr/>
        </p:nvSpPr>
        <p:spPr>
          <a:xfrm>
            <a:off x="3284068" y="2770632"/>
            <a:ext cx="548640" cy="548640"/>
          </a:xfrm>
          <a:prstGeom prst="ellipse">
            <a:avLst/>
          </a:prstGeom>
          <a:solidFill>
            <a:srgbClr val="2B3A8C"/>
          </a:solidFill>
          <a:ln/>
        </p:spPr>
      </p:sp>
      <p:pic>
        <p:nvPicPr>
          <p:cNvPr id="17" name="Image 2" descr="preencoded.png">    </p:cNvPr>
          <p:cNvPicPr>
            <a:picLocks noChangeAspect="1"/>
          </p:cNvPicPr>
          <p:nvPr/>
        </p:nvPicPr>
        <p:blipFill>
          <a:blip r:embed="rId3"/>
          <a:stretch>
            <a:fillRect/>
          </a:stretch>
        </p:blipFill>
        <p:spPr>
          <a:xfrm>
            <a:off x="3402940" y="2889504"/>
            <a:ext cx="310896" cy="310896"/>
          </a:xfrm>
          <a:prstGeom prst="rect">
            <a:avLst/>
          </a:prstGeom>
        </p:spPr>
      </p:pic>
      <p:sp>
        <p:nvSpPr>
          <p:cNvPr id="18" name="Text 13"/>
          <p:cNvSpPr/>
          <p:nvPr/>
        </p:nvSpPr>
        <p:spPr>
          <a:xfrm>
            <a:off x="696316" y="2743200"/>
            <a:ext cx="2697480" cy="548640"/>
          </a:xfrm>
          <a:prstGeom prst="rect">
            <a:avLst/>
          </a:prstGeom>
          <a:noFill/>
          <a:ln/>
        </p:spPr>
        <p:txBody>
          <a:bodyPr wrap="square" lIns="0" tIns="0" rIns="0" bIns="0" rtlCol="0" anchor="ctr"/>
          <a:lstStyle/>
          <a:p>
            <a:pPr rtl="1" algn="r" indent="0" marL="0">
              <a:buNone/>
            </a:pPr>
            <a:r>
              <a:rPr lang="en-US" sz="1550" b="1" dirty="0">
                <a:solidFill>
                  <a:srgbClr val="E8EEF6"/>
                </a:solidFill>
                <a:latin typeface="Arial" pitchFamily="34" charset="0"/>
                <a:ea typeface="Arial" pitchFamily="34" charset="-122"/>
                <a:cs typeface="Arial" pitchFamily="34" charset="-120"/>
              </a:rPr>
              <a:t>تطبيق موبايل</a:t>
            </a:r>
            <a:endParaRPr lang="en-US" sz="1550" dirty="0"/>
          </a:p>
        </p:txBody>
      </p:sp>
      <p:sp>
        <p:nvSpPr>
          <p:cNvPr id="19" name="Text 14"/>
          <p:cNvSpPr/>
          <p:nvPr/>
        </p:nvSpPr>
        <p:spPr>
          <a:xfrm>
            <a:off x="742036" y="3355848"/>
            <a:ext cx="3154680" cy="594360"/>
          </a:xfrm>
          <a:prstGeom prst="rect">
            <a:avLst/>
          </a:prstGeom>
          <a:noFill/>
          <a:ln/>
        </p:spPr>
        <p:txBody>
          <a:bodyPr wrap="square" lIns="0" tIns="0" rIns="0" bIns="0" rtlCol="0" anchor="t"/>
          <a:lstStyle/>
          <a:p>
            <a:pPr rtl="1" algn="r" indent="0" marL="0">
              <a:lnSpc>
                <a:spcPct val="115000"/>
              </a:lnSpc>
              <a:buNone/>
            </a:pPr>
            <a:r>
              <a:rPr lang="en-US" sz="1200" dirty="0">
                <a:solidFill>
                  <a:srgbClr val="9DB0C7"/>
                </a:solidFill>
                <a:latin typeface="Arial" pitchFamily="34" charset="0"/>
                <a:ea typeface="Arial" pitchFamily="34" charset="-122"/>
                <a:cs typeface="Arial" pitchFamily="34" charset="-120"/>
              </a:rPr>
              <a:t>تجربة أصلية على iOS و Android</a:t>
            </a:r>
            <a:endParaRPr lang="en-US" sz="1200" dirty="0"/>
          </a:p>
        </p:txBody>
      </p:sp>
      <p:sp>
        <p:nvSpPr>
          <p:cNvPr id="20" name="Shape 15"/>
          <p:cNvSpPr/>
          <p:nvPr/>
        </p:nvSpPr>
        <p:spPr>
          <a:xfrm>
            <a:off x="8066380" y="4270248"/>
            <a:ext cx="3611880" cy="1554480"/>
          </a:xfrm>
          <a:prstGeom prst="roundRect">
            <a:avLst>
              <a:gd name="adj" fmla="val 5294"/>
            </a:avLst>
          </a:prstGeom>
          <a:solidFill>
            <a:srgbClr val="111B2E"/>
          </a:solidFill>
          <a:ln w="12700">
            <a:solidFill>
              <a:srgbClr val="243349"/>
            </a:solidFill>
            <a:prstDash val="solid"/>
          </a:ln>
          <a:effectLst>
            <a:outerShdw sx="100000" sy="100000" kx="0" ky="0" algn="bl" rotWithShape="0" blurRad="114300" dist="38100" dir="5400000">
              <a:srgbClr val="000000">
                <a:alpha val="28000"/>
              </a:srgbClr>
            </a:outerShdw>
          </a:effectLst>
        </p:spPr>
      </p:sp>
      <p:sp>
        <p:nvSpPr>
          <p:cNvPr id="21" name="Shape 16"/>
          <p:cNvSpPr/>
          <p:nvPr/>
        </p:nvSpPr>
        <p:spPr>
          <a:xfrm>
            <a:off x="10837012" y="4526280"/>
            <a:ext cx="548640" cy="548640"/>
          </a:xfrm>
          <a:prstGeom prst="ellipse">
            <a:avLst/>
          </a:prstGeom>
          <a:solidFill>
            <a:srgbClr val="2B3A8C"/>
          </a:solidFill>
          <a:ln/>
        </p:spPr>
      </p:sp>
      <p:pic>
        <p:nvPicPr>
          <p:cNvPr id="22" name="Image 3" descr="preencoded.png">    </p:cNvPr>
          <p:cNvPicPr>
            <a:picLocks noChangeAspect="1"/>
          </p:cNvPicPr>
          <p:nvPr/>
        </p:nvPicPr>
        <p:blipFill>
          <a:blip r:embed="rId4"/>
          <a:stretch>
            <a:fillRect/>
          </a:stretch>
        </p:blipFill>
        <p:spPr>
          <a:xfrm>
            <a:off x="10955884" y="4645152"/>
            <a:ext cx="310896" cy="310896"/>
          </a:xfrm>
          <a:prstGeom prst="rect">
            <a:avLst/>
          </a:prstGeom>
        </p:spPr>
      </p:pic>
      <p:sp>
        <p:nvSpPr>
          <p:cNvPr id="23" name="Text 17"/>
          <p:cNvSpPr/>
          <p:nvPr/>
        </p:nvSpPr>
        <p:spPr>
          <a:xfrm>
            <a:off x="8249260" y="4498848"/>
            <a:ext cx="2697480" cy="548640"/>
          </a:xfrm>
          <a:prstGeom prst="rect">
            <a:avLst/>
          </a:prstGeom>
          <a:noFill/>
          <a:ln/>
        </p:spPr>
        <p:txBody>
          <a:bodyPr wrap="square" lIns="0" tIns="0" rIns="0" bIns="0" rtlCol="0" anchor="ctr"/>
          <a:lstStyle/>
          <a:p>
            <a:pPr rtl="1" algn="r" indent="0" marL="0">
              <a:buNone/>
            </a:pPr>
            <a:r>
              <a:rPr lang="en-US" sz="1550" b="1" dirty="0">
                <a:solidFill>
                  <a:srgbClr val="E8EEF6"/>
                </a:solidFill>
                <a:latin typeface="Arial" pitchFamily="34" charset="0"/>
                <a:ea typeface="Arial" pitchFamily="34" charset="-122"/>
                <a:cs typeface="Arial" pitchFamily="34" charset="-120"/>
              </a:rPr>
              <a:t>‏API للمطوّرين</a:t>
            </a:r>
            <a:endParaRPr lang="en-US" sz="1550" dirty="0"/>
          </a:p>
        </p:txBody>
      </p:sp>
      <p:sp>
        <p:nvSpPr>
          <p:cNvPr id="24" name="Text 18"/>
          <p:cNvSpPr/>
          <p:nvPr/>
        </p:nvSpPr>
        <p:spPr>
          <a:xfrm>
            <a:off x="8294980" y="5111496"/>
            <a:ext cx="3154680" cy="594360"/>
          </a:xfrm>
          <a:prstGeom prst="rect">
            <a:avLst/>
          </a:prstGeom>
          <a:noFill/>
          <a:ln/>
        </p:spPr>
        <p:txBody>
          <a:bodyPr wrap="square" lIns="0" tIns="0" rIns="0" bIns="0" rtlCol="0" anchor="t"/>
          <a:lstStyle/>
          <a:p>
            <a:pPr rtl="1" algn="r" indent="0" marL="0">
              <a:lnSpc>
                <a:spcPct val="115000"/>
              </a:lnSpc>
              <a:buNone/>
            </a:pPr>
            <a:r>
              <a:rPr lang="en-US" sz="1200" dirty="0">
                <a:solidFill>
                  <a:srgbClr val="9DB0C7"/>
                </a:solidFill>
                <a:latin typeface="Arial" pitchFamily="34" charset="0"/>
                <a:ea typeface="Arial" pitchFamily="34" charset="-122"/>
                <a:cs typeface="Arial" pitchFamily="34" charset="-120"/>
              </a:rPr>
              <a:t>إتاحة البيانات لأنظمة وجهات أخرى</a:t>
            </a:r>
            <a:endParaRPr lang="en-US" sz="1200" dirty="0"/>
          </a:p>
        </p:txBody>
      </p:sp>
      <p:sp>
        <p:nvSpPr>
          <p:cNvPr id="25" name="Shape 19"/>
          <p:cNvSpPr/>
          <p:nvPr/>
        </p:nvSpPr>
        <p:spPr>
          <a:xfrm>
            <a:off x="4289908" y="4270248"/>
            <a:ext cx="3611880" cy="1554480"/>
          </a:xfrm>
          <a:prstGeom prst="roundRect">
            <a:avLst>
              <a:gd name="adj" fmla="val 5294"/>
            </a:avLst>
          </a:prstGeom>
          <a:solidFill>
            <a:srgbClr val="111B2E"/>
          </a:solidFill>
          <a:ln w="12700">
            <a:solidFill>
              <a:srgbClr val="243349"/>
            </a:solidFill>
            <a:prstDash val="solid"/>
          </a:ln>
          <a:effectLst>
            <a:outerShdw sx="100000" sy="100000" kx="0" ky="0" algn="bl" rotWithShape="0" blurRad="114300" dist="38100" dir="5400000">
              <a:srgbClr val="000000">
                <a:alpha val="28000"/>
              </a:srgbClr>
            </a:outerShdw>
          </a:effectLst>
        </p:spPr>
      </p:sp>
      <p:sp>
        <p:nvSpPr>
          <p:cNvPr id="26" name="Shape 20"/>
          <p:cNvSpPr/>
          <p:nvPr/>
        </p:nvSpPr>
        <p:spPr>
          <a:xfrm>
            <a:off x="7060540" y="4526280"/>
            <a:ext cx="548640" cy="548640"/>
          </a:xfrm>
          <a:prstGeom prst="ellipse">
            <a:avLst/>
          </a:prstGeom>
          <a:solidFill>
            <a:srgbClr val="2B3A8C"/>
          </a:solidFill>
          <a:ln/>
        </p:spPr>
      </p:sp>
      <p:pic>
        <p:nvPicPr>
          <p:cNvPr id="27" name="Image 4" descr="preencoded.png">    </p:cNvPr>
          <p:cNvPicPr>
            <a:picLocks noChangeAspect="1"/>
          </p:cNvPicPr>
          <p:nvPr/>
        </p:nvPicPr>
        <p:blipFill>
          <a:blip r:embed="rId5"/>
          <a:stretch>
            <a:fillRect/>
          </a:stretch>
        </p:blipFill>
        <p:spPr>
          <a:xfrm>
            <a:off x="7179412" y="4645152"/>
            <a:ext cx="310896" cy="310896"/>
          </a:xfrm>
          <a:prstGeom prst="rect">
            <a:avLst/>
          </a:prstGeom>
        </p:spPr>
      </p:pic>
      <p:sp>
        <p:nvSpPr>
          <p:cNvPr id="28" name="Text 21"/>
          <p:cNvSpPr/>
          <p:nvPr/>
        </p:nvSpPr>
        <p:spPr>
          <a:xfrm>
            <a:off x="4472788" y="4498848"/>
            <a:ext cx="2697480" cy="548640"/>
          </a:xfrm>
          <a:prstGeom prst="rect">
            <a:avLst/>
          </a:prstGeom>
          <a:noFill/>
          <a:ln/>
        </p:spPr>
        <p:txBody>
          <a:bodyPr wrap="square" lIns="0" tIns="0" rIns="0" bIns="0" rtlCol="0" anchor="ctr"/>
          <a:lstStyle/>
          <a:p>
            <a:pPr rtl="1" algn="r" indent="0" marL="0">
              <a:buNone/>
            </a:pPr>
            <a:r>
              <a:rPr lang="en-US" sz="1550" b="1" dirty="0">
                <a:solidFill>
                  <a:srgbClr val="E8EEF6"/>
                </a:solidFill>
                <a:latin typeface="Arial" pitchFamily="34" charset="0"/>
                <a:ea typeface="Arial" pitchFamily="34" charset="-122"/>
                <a:cs typeface="Arial" pitchFamily="34" charset="-120"/>
              </a:rPr>
              <a:t>طبقات إضافية</a:t>
            </a:r>
            <a:endParaRPr lang="en-US" sz="1550" dirty="0"/>
          </a:p>
        </p:txBody>
      </p:sp>
      <p:sp>
        <p:nvSpPr>
          <p:cNvPr id="29" name="Text 22"/>
          <p:cNvSpPr/>
          <p:nvPr/>
        </p:nvSpPr>
        <p:spPr>
          <a:xfrm>
            <a:off x="4518508" y="5111496"/>
            <a:ext cx="3154680" cy="594360"/>
          </a:xfrm>
          <a:prstGeom prst="rect">
            <a:avLst/>
          </a:prstGeom>
          <a:noFill/>
          <a:ln/>
        </p:spPr>
        <p:txBody>
          <a:bodyPr wrap="square" lIns="0" tIns="0" rIns="0" bIns="0" rtlCol="0" anchor="t"/>
          <a:lstStyle/>
          <a:p>
            <a:pPr rtl="1" algn="r" indent="0" marL="0">
              <a:lnSpc>
                <a:spcPct val="115000"/>
              </a:lnSpc>
              <a:buNone/>
            </a:pPr>
            <a:r>
              <a:rPr lang="en-US" sz="1200" dirty="0">
                <a:solidFill>
                  <a:srgbClr val="9DB0C7"/>
                </a:solidFill>
                <a:latin typeface="Arial" pitchFamily="34" charset="0"/>
                <a:ea typeface="Arial" pitchFamily="34" charset="-122"/>
                <a:cs typeface="Arial" pitchFamily="34" charset="-120"/>
              </a:rPr>
              <a:t>توسعة مستمرة لمصادر ونماذج جديدة</a:t>
            </a:r>
            <a:endParaRPr lang="en-US" sz="1200" dirty="0"/>
          </a:p>
        </p:txBody>
      </p:sp>
      <p:sp>
        <p:nvSpPr>
          <p:cNvPr id="30" name="Shape 23"/>
          <p:cNvSpPr/>
          <p:nvPr/>
        </p:nvSpPr>
        <p:spPr>
          <a:xfrm>
            <a:off x="513436" y="4270248"/>
            <a:ext cx="3611880" cy="1554480"/>
          </a:xfrm>
          <a:prstGeom prst="roundRect">
            <a:avLst>
              <a:gd name="adj" fmla="val 5294"/>
            </a:avLst>
          </a:prstGeom>
          <a:solidFill>
            <a:srgbClr val="111B2E"/>
          </a:solidFill>
          <a:ln w="12700">
            <a:solidFill>
              <a:srgbClr val="243349"/>
            </a:solidFill>
            <a:prstDash val="solid"/>
          </a:ln>
          <a:effectLst>
            <a:outerShdw sx="100000" sy="100000" kx="0" ky="0" algn="bl" rotWithShape="0" blurRad="114300" dist="38100" dir="5400000">
              <a:srgbClr val="000000">
                <a:alpha val="28000"/>
              </a:srgbClr>
            </a:outerShdw>
          </a:effectLst>
        </p:spPr>
      </p:sp>
      <p:sp>
        <p:nvSpPr>
          <p:cNvPr id="31" name="Shape 24"/>
          <p:cNvSpPr/>
          <p:nvPr/>
        </p:nvSpPr>
        <p:spPr>
          <a:xfrm>
            <a:off x="3284068" y="4526280"/>
            <a:ext cx="548640" cy="548640"/>
          </a:xfrm>
          <a:prstGeom prst="ellipse">
            <a:avLst/>
          </a:prstGeom>
          <a:solidFill>
            <a:srgbClr val="2B3A8C"/>
          </a:solidFill>
          <a:ln/>
        </p:spPr>
      </p:sp>
      <p:pic>
        <p:nvPicPr>
          <p:cNvPr id="32" name="Image 5" descr="preencoded.png">    </p:cNvPr>
          <p:cNvPicPr>
            <a:picLocks noChangeAspect="1"/>
          </p:cNvPicPr>
          <p:nvPr/>
        </p:nvPicPr>
        <p:blipFill>
          <a:blip r:embed="rId6"/>
          <a:stretch>
            <a:fillRect/>
          </a:stretch>
        </p:blipFill>
        <p:spPr>
          <a:xfrm>
            <a:off x="3402940" y="4645152"/>
            <a:ext cx="310896" cy="310896"/>
          </a:xfrm>
          <a:prstGeom prst="rect">
            <a:avLst/>
          </a:prstGeom>
        </p:spPr>
      </p:pic>
      <p:sp>
        <p:nvSpPr>
          <p:cNvPr id="33" name="Text 25"/>
          <p:cNvSpPr/>
          <p:nvPr/>
        </p:nvSpPr>
        <p:spPr>
          <a:xfrm>
            <a:off x="696316" y="4498848"/>
            <a:ext cx="2697480" cy="548640"/>
          </a:xfrm>
          <a:prstGeom prst="rect">
            <a:avLst/>
          </a:prstGeom>
          <a:noFill/>
          <a:ln/>
        </p:spPr>
        <p:txBody>
          <a:bodyPr wrap="square" lIns="0" tIns="0" rIns="0" bIns="0" rtlCol="0" anchor="ctr"/>
          <a:lstStyle/>
          <a:p>
            <a:pPr rtl="1" algn="r" indent="0" marL="0">
              <a:buNone/>
            </a:pPr>
            <a:r>
              <a:rPr lang="en-US" sz="1550" b="1" dirty="0">
                <a:solidFill>
                  <a:srgbClr val="E8EEF6"/>
                </a:solidFill>
                <a:latin typeface="Arial" pitchFamily="34" charset="0"/>
                <a:ea typeface="Arial" pitchFamily="34" charset="-122"/>
                <a:cs typeface="Arial" pitchFamily="34" charset="-120"/>
              </a:rPr>
              <a:t>تحسين الأداء</a:t>
            </a:r>
            <a:endParaRPr lang="en-US" sz="1550" dirty="0"/>
          </a:p>
        </p:txBody>
      </p:sp>
      <p:sp>
        <p:nvSpPr>
          <p:cNvPr id="34" name="Text 26"/>
          <p:cNvSpPr/>
          <p:nvPr/>
        </p:nvSpPr>
        <p:spPr>
          <a:xfrm>
            <a:off x="742036" y="5111496"/>
            <a:ext cx="3154680" cy="594360"/>
          </a:xfrm>
          <a:prstGeom prst="rect">
            <a:avLst/>
          </a:prstGeom>
          <a:noFill/>
          <a:ln/>
        </p:spPr>
        <p:txBody>
          <a:bodyPr wrap="square" lIns="0" tIns="0" rIns="0" bIns="0" rtlCol="0" anchor="t"/>
          <a:lstStyle/>
          <a:p>
            <a:pPr rtl="1" algn="r" indent="0" marL="0">
              <a:lnSpc>
                <a:spcPct val="115000"/>
              </a:lnSpc>
              <a:buNone/>
            </a:pPr>
            <a:r>
              <a:rPr lang="en-US" sz="1200" dirty="0">
                <a:solidFill>
                  <a:srgbClr val="9DB0C7"/>
                </a:solidFill>
                <a:latin typeface="Arial" pitchFamily="34" charset="0"/>
                <a:ea typeface="Arial" pitchFamily="34" charset="-122"/>
                <a:cs typeface="Arial" pitchFamily="34" charset="-120"/>
              </a:rPr>
              <a:t>طلبات مجمّعة لرفع الدقّة والسرعة</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046720" y="-2194560"/>
            <a:ext cx="6858000" cy="6858000"/>
          </a:xfrm>
          <a:prstGeom prst="ellipse">
            <a:avLst/>
          </a:prstGeom>
          <a:solidFill>
            <a:srgbClr val="0D76B3">
              <a:alpha val="20000"/>
            </a:srgbClr>
          </a:solidFill>
          <a:ln/>
        </p:spPr>
      </p:sp>
      <p:sp>
        <p:nvSpPr>
          <p:cNvPr id="3" name="Shape 1"/>
          <p:cNvSpPr/>
          <p:nvPr/>
        </p:nvSpPr>
        <p:spPr>
          <a:xfrm>
            <a:off x="-1828800" y="3200400"/>
            <a:ext cx="5486400" cy="5486400"/>
          </a:xfrm>
          <a:prstGeom prst="ellipse">
            <a:avLst/>
          </a:prstGeom>
          <a:solidFill>
            <a:srgbClr val="2B3A8C">
              <a:alpha val="26000"/>
            </a:srgbClr>
          </a:solidFill>
          <a:ln/>
        </p:spPr>
      </p:sp>
      <p:pic>
        <p:nvPicPr>
          <p:cNvPr id="4" name="Image 0" descr="assets/logo-04.png">    </p:cNvPr>
          <p:cNvPicPr>
            <a:picLocks noChangeAspect="1"/>
          </p:cNvPicPr>
          <p:nvPr/>
        </p:nvPicPr>
        <p:blipFill>
          <a:blip r:embed="rId1"/>
          <a:srcRect l="0" r="0" t="0" b="0"/>
          <a:stretch/>
        </p:blipFill>
        <p:spPr>
          <a:xfrm>
            <a:off x="4572000" y="1371600"/>
            <a:ext cx="3017520" cy="1554480"/>
          </a:xfrm>
          <a:prstGeom prst="rect">
            <a:avLst/>
          </a:prstGeom>
        </p:spPr>
      </p:pic>
      <p:sp>
        <p:nvSpPr>
          <p:cNvPr id="5" name="Text 2"/>
          <p:cNvSpPr/>
          <p:nvPr/>
        </p:nvSpPr>
        <p:spPr>
          <a:xfrm>
            <a:off x="914400" y="3200400"/>
            <a:ext cx="10332720" cy="914400"/>
          </a:xfrm>
          <a:prstGeom prst="rect">
            <a:avLst/>
          </a:prstGeom>
          <a:noFill/>
          <a:ln/>
        </p:spPr>
        <p:txBody>
          <a:bodyPr wrap="square" lIns="0" tIns="0" rIns="0" bIns="0" rtlCol="0" anchor="ctr"/>
          <a:lstStyle/>
          <a:p>
            <a:pPr rtl="1" algn="ctr" indent="0" marL="0">
              <a:buNone/>
            </a:pPr>
            <a:r>
              <a:rPr lang="en-US" sz="4000" b="1" dirty="0">
                <a:solidFill>
                  <a:srgbClr val="E8EEF6"/>
                </a:solidFill>
                <a:latin typeface="Cambria" pitchFamily="34" charset="0"/>
                <a:ea typeface="Cambria" pitchFamily="34" charset="-122"/>
                <a:cs typeface="Cambria" pitchFamily="34" charset="-120"/>
              </a:rPr>
              <a:t>جاهز للإطلاق اليوم</a:t>
            </a:r>
            <a:endParaRPr lang="en-US" sz="4000" dirty="0"/>
          </a:p>
        </p:txBody>
      </p:sp>
      <p:sp>
        <p:nvSpPr>
          <p:cNvPr id="6" name="Text 3"/>
          <p:cNvSpPr/>
          <p:nvPr/>
        </p:nvSpPr>
        <p:spPr>
          <a:xfrm>
            <a:off x="914400" y="4160520"/>
            <a:ext cx="10332720" cy="548640"/>
          </a:xfrm>
          <a:prstGeom prst="rect">
            <a:avLst/>
          </a:prstGeom>
          <a:noFill/>
          <a:ln/>
        </p:spPr>
        <p:txBody>
          <a:bodyPr wrap="square" lIns="0" tIns="0" rIns="0" bIns="0" rtlCol="0" anchor="ctr"/>
          <a:lstStyle/>
          <a:p>
            <a:pPr rtl="1" algn="ctr" indent="0" marL="0">
              <a:buNone/>
            </a:pPr>
            <a:r>
              <a:rPr lang="en-US" sz="1900" dirty="0">
                <a:solidFill>
                  <a:srgbClr val="9DB0C7"/>
                </a:solidFill>
                <a:latin typeface="Arial" pitchFamily="34" charset="0"/>
                <a:ea typeface="Arial" pitchFamily="34" charset="-122"/>
                <a:cs typeface="Arial" pitchFamily="34" charset="-120"/>
              </a:rPr>
              <a:t>منتج مكتمل — واجهة وخلفية — وقابل للتوسّع حسب احتياجك</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Sky Radar — منصة الطقس التفاعلية</dc:title>
  <dc:subject>PptxGenJS Presentation</dc:subject>
  <dc:creator>Sky Radar</dc:creator>
  <cp:lastModifiedBy>Sky Radar</cp:lastModifiedBy>
  <cp:revision>1</cp:revision>
  <dcterms:created xsi:type="dcterms:W3CDTF">2026-06-20T19:08:26Z</dcterms:created>
  <dcterms:modified xsi:type="dcterms:W3CDTF">2026-06-20T19:08:26Z</dcterms:modified>
</cp:coreProperties>
</file>